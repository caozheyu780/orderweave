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2" r:id="rId4"/>
  </p:sldMasterIdLst>
  <p:notesMasterIdLst>
    <p:notesMasterId r:id="rId6"/>
  </p:notesMasterIdLst>
  <p:handoutMasterIdLst>
    <p:handoutMasterId r:id="rId17"/>
  </p:handoutMasterIdLst>
  <p:sldIdLst>
    <p:sldId id="15717777" r:id="rId5"/>
    <p:sldId id="15717770" r:id="rId7"/>
    <p:sldId id="15717773" r:id="rId8"/>
    <p:sldId id="15717764" r:id="rId9"/>
    <p:sldId id="15717771" r:id="rId10"/>
    <p:sldId id="15717799" r:id="rId11"/>
    <p:sldId id="15717774" r:id="rId12"/>
    <p:sldId id="15717335" r:id="rId13"/>
    <p:sldId id="15717775" r:id="rId14"/>
    <p:sldId id="15717798" r:id="rId15"/>
    <p:sldId id="15717776"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6D4E"/>
    <a:srgbClr val="E6E6E6"/>
    <a:srgbClr val="3B85FE"/>
    <a:srgbClr val="E18868"/>
    <a:srgbClr val="4B73C6"/>
    <a:srgbClr val="3B84FF"/>
    <a:srgbClr val="6FAA8E"/>
    <a:srgbClr val="E83814"/>
    <a:srgbClr val="4E9E79"/>
    <a:srgbClr val="42B2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79" autoAdjust="0"/>
    <p:restoredTop sz="96238" autoAdjust="0"/>
  </p:normalViewPr>
  <p:slideViewPr>
    <p:cSldViewPr snapToGrid="0">
      <p:cViewPr>
        <p:scale>
          <a:sx n="75" d="100"/>
          <a:sy n="75" d="100"/>
        </p:scale>
        <p:origin x="1686" y="852"/>
      </p:cViewPr>
      <p:guideLst/>
    </p:cSldViewPr>
  </p:slideViewPr>
  <p:notesTextViewPr>
    <p:cViewPr>
      <p:scale>
        <a:sx n="1" d="1"/>
        <a:sy n="1" d="1"/>
      </p:scale>
      <p:origin x="0" y="0"/>
    </p:cViewPr>
  </p:notesTextViewPr>
  <p:sorterViewPr>
    <p:cViewPr>
      <p:scale>
        <a:sx n="100" d="100"/>
        <a:sy n="100" d="100"/>
      </p:scale>
      <p:origin x="0" y="-642"/>
    </p:cViewPr>
  </p:sorterViewPr>
  <p:notesViewPr>
    <p:cSldViewPr snapToGrid="0">
      <p:cViewPr varScale="1">
        <p:scale>
          <a:sx n="87" d="100"/>
          <a:sy n="87" d="100"/>
        </p:scale>
        <p:origin x="2988"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30FE25F-8BC0-4BE2-A57A-787CA670B114}"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30FE25F-8BC0-4BE2-A57A-787CA670B114}"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30FE25F-8BC0-4BE2-A57A-787CA670B114}"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30FE25F-8BC0-4BE2-A57A-787CA670B114}"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
        <p:nvSpPr>
          <p:cNvPr id="8" name="TextBox 9"/>
          <p:cNvSpPr txBox="1"/>
          <p:nvPr userDrawn="1"/>
        </p:nvSpPr>
        <p:spPr>
          <a:xfrm>
            <a:off x="11759951" y="0"/>
            <a:ext cx="43204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userDrawn="1">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userDrawn="1">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userDrawn="1">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userDrawn="1">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grpSp>
        <p:nvGrpSpPr>
          <p:cNvPr id="7" name="组合 6"/>
          <p:cNvGrpSpPr/>
          <p:nvPr userDrawn="1"/>
        </p:nvGrpSpPr>
        <p:grpSpPr>
          <a:xfrm>
            <a:off x="0" y="242387"/>
            <a:ext cx="1028703" cy="444500"/>
            <a:chOff x="0" y="469900"/>
            <a:chExt cx="1028703" cy="444500"/>
          </a:xfrm>
        </p:grpSpPr>
        <p:sp>
          <p:nvSpPr>
            <p:cNvPr id="12" name="矩形 11"/>
            <p:cNvSpPr/>
            <p:nvPr userDrawn="1"/>
          </p:nvSpPr>
          <p:spPr>
            <a:xfrm>
              <a:off x="0" y="469900"/>
              <a:ext cx="659423" cy="444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OPPOSans R" panose="00020600040101010101" pitchFamily="18" charset="-122"/>
              </a:endParaRPr>
            </a:p>
          </p:txBody>
        </p:sp>
        <p:sp>
          <p:nvSpPr>
            <p:cNvPr id="13" name="矩形 12"/>
            <p:cNvSpPr/>
            <p:nvPr userDrawn="1"/>
          </p:nvSpPr>
          <p:spPr>
            <a:xfrm>
              <a:off x="729763" y="469900"/>
              <a:ext cx="114300" cy="444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OPPOSans R" panose="00020600040101010101" pitchFamily="18" charset="-122"/>
              </a:endParaRPr>
            </a:p>
          </p:txBody>
        </p:sp>
        <p:sp>
          <p:nvSpPr>
            <p:cNvPr id="14" name="矩形 13"/>
            <p:cNvSpPr/>
            <p:nvPr userDrawn="1"/>
          </p:nvSpPr>
          <p:spPr>
            <a:xfrm>
              <a:off x="914403" y="469900"/>
              <a:ext cx="114300" cy="444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OPPOSans R" panose="00020600040101010101" pitchFamily="18" charset="-122"/>
              </a:endParaRPr>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hemeOverride" Target="../theme/themeOverride1.xml"/><Relationship Id="rId3" Type="http://schemas.openxmlformats.org/officeDocument/2006/relationships/tags" Target="../tags/tag1.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hemeOverride" Target="../theme/themeOverride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6" Type="http://schemas.openxmlformats.org/officeDocument/2006/relationships/notesSlide" Target="../notesSlides/notesSlide4.xml"/><Relationship Id="rId15" Type="http://schemas.openxmlformats.org/officeDocument/2006/relationships/slideLayout" Target="../slideLayouts/slideLayout18.xml"/><Relationship Id="rId14" Type="http://schemas.openxmlformats.org/officeDocument/2006/relationships/themeOverride" Target="../theme/themeOverride4.xml"/><Relationship Id="rId13" Type="http://schemas.openxmlformats.org/officeDocument/2006/relationships/tags" Target="../tags/tag15.xml"/><Relationship Id="rId12" Type="http://schemas.openxmlformats.org/officeDocument/2006/relationships/image" Target="../media/image3.jpeg"/><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hemeOverride" Target="../theme/themeOverride5.xml"/><Relationship Id="rId1" Type="http://schemas.openxmlformats.org/officeDocument/2006/relationships/tags" Target="../tags/tag16.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themeOverride" Target="../theme/themeOverride6.xml"/><Relationship Id="rId1" Type="http://schemas.openxmlformats.org/officeDocument/2006/relationships/tags" Target="../tags/tag17.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hemeOverride" Target="../theme/themeOverride7.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8.xml"/><Relationship Id="rId6" Type="http://schemas.openxmlformats.org/officeDocument/2006/relationships/themeOverride" Target="../theme/themeOverride8.xml"/><Relationship Id="rId5" Type="http://schemas.openxmlformats.org/officeDocument/2006/relationships/tags" Target="../tags/tag20.xml"/><Relationship Id="rId4" Type="http://schemas.openxmlformats.org/officeDocument/2006/relationships/image" Target="../media/image4.png"/><Relationship Id="rId3" Type="http://schemas.openxmlformats.org/officeDocument/2006/relationships/tags" Target="../tags/tag19.xml"/><Relationship Id="rId2" Type="http://schemas.microsoft.com/office/2007/relationships/media" Target="../media/media1.mp4"/><Relationship Id="rId1" Type="http://schemas.openxmlformats.org/officeDocument/2006/relationships/video" Target="../media/media1.mp4"/></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hemeOverride" Target="../theme/themeOverride9.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0" Type="http://schemas.openxmlformats.org/officeDocument/2006/relationships/notesSlide" Target="../notesSlides/notesSlide10.xml"/><Relationship Id="rId2" Type="http://schemas.openxmlformats.org/officeDocument/2006/relationships/tags" Target="../tags/tag23.xml"/><Relationship Id="rId19" Type="http://schemas.openxmlformats.org/officeDocument/2006/relationships/slideLayout" Target="../slideLayouts/slideLayout18.xml"/><Relationship Id="rId18" Type="http://schemas.openxmlformats.org/officeDocument/2006/relationships/themeOverride" Target="../theme/themeOverride10.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hemeOverride" Target="../theme/themeOverride11.xml"/><Relationship Id="rId3" Type="http://schemas.openxmlformats.org/officeDocument/2006/relationships/tags" Target="../tags/tag39.xml"/><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3" name="矩形 22"/>
          <p:cNvSpPr/>
          <p:nvPr/>
        </p:nvSpPr>
        <p:spPr>
          <a:xfrm flipH="1">
            <a:off x="0" y="876300"/>
            <a:ext cx="12192000" cy="510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24" name="图片 23"/>
          <p:cNvPicPr>
            <a:picLocks noChangeAspect="1"/>
          </p:cNvPicPr>
          <p:nvPr/>
        </p:nvPicPr>
        <p:blipFill>
          <a:blip r:embed="rId1" cstate="print">
            <a:extLst>
              <a:ext uri="{BEBA8EAE-BF5A-486C-A8C5-ECC9F3942E4B}">
                <a14:imgProps xmlns:a14="http://schemas.microsoft.com/office/drawing/2010/main">
                  <a14:imgLayer r:embed="rId2">
                    <a14:imgEffect>
                      <a14:brightnessContrast bright="10000"/>
                    </a14:imgEffect>
                  </a14:imgLayer>
                </a14:imgProps>
              </a:ext>
              <a:ext uri="{28A0092B-C50C-407E-A947-70E740481C1C}">
                <a14:useLocalDpi xmlns:a14="http://schemas.microsoft.com/office/drawing/2010/main" val="0"/>
              </a:ext>
            </a:extLst>
          </a:blip>
          <a:srcRect l="2808" r="2808"/>
          <a:stretch>
            <a:fillRect/>
          </a:stretch>
        </p:blipFill>
        <p:spPr>
          <a:xfrm>
            <a:off x="0" y="1098905"/>
            <a:ext cx="6595977" cy="4660190"/>
          </a:xfrm>
          <a:prstGeom prst="rect">
            <a:avLst/>
          </a:prstGeom>
        </p:spPr>
      </p:pic>
      <p:grpSp>
        <p:nvGrpSpPr>
          <p:cNvPr id="3" name="组合 2"/>
          <p:cNvGrpSpPr/>
          <p:nvPr/>
        </p:nvGrpSpPr>
        <p:grpSpPr>
          <a:xfrm>
            <a:off x="3785937" y="0"/>
            <a:ext cx="8406063" cy="6858000"/>
            <a:chOff x="4711700" y="0"/>
            <a:chExt cx="7480300" cy="6858000"/>
          </a:xfrm>
        </p:grpSpPr>
        <p:sp>
          <p:nvSpPr>
            <p:cNvPr id="25" name="五边形 26"/>
            <p:cNvSpPr/>
            <p:nvPr/>
          </p:nvSpPr>
          <p:spPr>
            <a:xfrm flipH="1">
              <a:off x="4711700" y="0"/>
              <a:ext cx="7289800" cy="6858000"/>
            </a:xfrm>
            <a:prstGeom prst="homePlate">
              <a:avLst>
                <a:gd name="adj" fmla="val 169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五边形 4"/>
            <p:cNvSpPr/>
            <p:nvPr/>
          </p:nvSpPr>
          <p:spPr>
            <a:xfrm flipH="1">
              <a:off x="4902200" y="0"/>
              <a:ext cx="7289800" cy="6858000"/>
            </a:xfrm>
            <a:prstGeom prst="homePlate">
              <a:avLst>
                <a:gd name="adj" fmla="val 1691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燕尾形 15"/>
          <p:cNvSpPr/>
          <p:nvPr/>
        </p:nvSpPr>
        <p:spPr>
          <a:xfrm flipH="1">
            <a:off x="4264719" y="3073401"/>
            <a:ext cx="385974" cy="711199"/>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28" name="组合 27"/>
          <p:cNvGrpSpPr/>
          <p:nvPr/>
        </p:nvGrpSpPr>
        <p:grpSpPr>
          <a:xfrm flipH="1">
            <a:off x="647007" y="413476"/>
            <a:ext cx="3372055" cy="89175"/>
            <a:chOff x="6741212" y="387738"/>
            <a:chExt cx="5092048" cy="172787"/>
          </a:xfrm>
        </p:grpSpPr>
        <p:sp>
          <p:nvSpPr>
            <p:cNvPr id="34" name="平行四边形 33"/>
            <p:cNvSpPr/>
            <p:nvPr/>
          </p:nvSpPr>
          <p:spPr>
            <a:xfrm flipH="1">
              <a:off x="6741212"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平行四边形 34"/>
            <p:cNvSpPr/>
            <p:nvPr/>
          </p:nvSpPr>
          <p:spPr>
            <a:xfrm flipH="1">
              <a:off x="8128699"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平行四边形 35"/>
            <p:cNvSpPr/>
            <p:nvPr/>
          </p:nvSpPr>
          <p:spPr>
            <a:xfrm flipH="1">
              <a:off x="9516186"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平行四边形 36"/>
            <p:cNvSpPr/>
            <p:nvPr/>
          </p:nvSpPr>
          <p:spPr>
            <a:xfrm flipH="1">
              <a:off x="10903673"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9" name="组合 28"/>
          <p:cNvGrpSpPr/>
          <p:nvPr/>
        </p:nvGrpSpPr>
        <p:grpSpPr>
          <a:xfrm>
            <a:off x="647007" y="6355350"/>
            <a:ext cx="3372055" cy="89175"/>
            <a:chOff x="6741212" y="387738"/>
            <a:chExt cx="5092048" cy="172787"/>
          </a:xfrm>
        </p:grpSpPr>
        <p:sp>
          <p:nvSpPr>
            <p:cNvPr id="30" name="平行四边形 29"/>
            <p:cNvSpPr/>
            <p:nvPr/>
          </p:nvSpPr>
          <p:spPr>
            <a:xfrm flipH="1">
              <a:off x="6741212"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平行四边形 30"/>
            <p:cNvSpPr/>
            <p:nvPr/>
          </p:nvSpPr>
          <p:spPr>
            <a:xfrm flipH="1">
              <a:off x="8128699"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平行四边形 31"/>
            <p:cNvSpPr/>
            <p:nvPr/>
          </p:nvSpPr>
          <p:spPr>
            <a:xfrm flipH="1">
              <a:off x="9516186"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3" name="平行四边形 32"/>
            <p:cNvSpPr/>
            <p:nvPr/>
          </p:nvSpPr>
          <p:spPr>
            <a:xfrm flipH="1">
              <a:off x="10903673"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4" name="组合 13"/>
          <p:cNvGrpSpPr/>
          <p:nvPr/>
        </p:nvGrpSpPr>
        <p:grpSpPr>
          <a:xfrm>
            <a:off x="5252486" y="1089963"/>
            <a:ext cx="6605706" cy="4544724"/>
            <a:chOff x="5252486" y="956613"/>
            <a:chExt cx="6605706" cy="4544724"/>
          </a:xfrm>
        </p:grpSpPr>
        <p:grpSp>
          <p:nvGrpSpPr>
            <p:cNvPr id="13" name="组合 12"/>
            <p:cNvGrpSpPr/>
            <p:nvPr/>
          </p:nvGrpSpPr>
          <p:grpSpPr>
            <a:xfrm>
              <a:off x="5252486" y="1691367"/>
              <a:ext cx="6605706" cy="2553335"/>
              <a:chOff x="5252486" y="1853292"/>
              <a:chExt cx="6605706" cy="2553335"/>
            </a:xfrm>
          </p:grpSpPr>
          <p:sp>
            <p:nvSpPr>
              <p:cNvPr id="59" name="文本框 58"/>
              <p:cNvSpPr txBox="1"/>
              <p:nvPr/>
            </p:nvSpPr>
            <p:spPr>
              <a:xfrm>
                <a:off x="5252486" y="1853292"/>
                <a:ext cx="6411396" cy="25533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rPr>
                  <a:t>Order</a:t>
                </a:r>
                <a:endParaRPr kumimoji="0" lang="en-US" altLang="zh-CN" sz="8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rPr>
                  <a:t>Weaver</a:t>
                </a:r>
                <a:endParaRPr kumimoji="0" lang="en-US" altLang="zh-CN" sz="8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endParaRPr>
              </a:p>
            </p:txBody>
          </p:sp>
          <p:sp>
            <p:nvSpPr>
              <p:cNvPr id="60" name="文本框 59"/>
              <p:cNvSpPr txBox="1"/>
              <p:nvPr/>
            </p:nvSpPr>
            <p:spPr>
              <a:xfrm>
                <a:off x="7809671" y="2306310"/>
                <a:ext cx="4048521" cy="119888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BC52D"/>
                    </a:solidFill>
                    <a:effectLst/>
                    <a:uLnTx/>
                    <a:uFillTx/>
                    <a:cs typeface="+mn-ea"/>
                    <a:sym typeface="+mn-lt"/>
                  </a:rPr>
                  <a:t>Hacka</a:t>
                </a:r>
                <a:r>
                  <a:rPr kumimoji="0" lang="en-US" altLang="zh-CN" sz="2400" b="0" i="0" u="none" strike="noStrike" kern="1200" cap="none" spc="0" normalizeH="0" baseline="0" noProof="0" dirty="0">
                    <a:ln>
                      <a:noFill/>
                    </a:ln>
                    <a:solidFill>
                      <a:srgbClr val="FBC52D"/>
                    </a:solidFill>
                    <a:effectLst/>
                    <a:uLnTx/>
                    <a:uFillTx/>
                    <a:cs typeface="+mn-ea"/>
                    <a:sym typeface="+mn-lt"/>
                  </a:rPr>
                  <a:t>thon</a:t>
                </a:r>
                <a:endParaRPr kumimoji="0" lang="en-US" altLang="zh-CN" sz="2400" b="0" i="0" u="none" strike="noStrike" kern="1200" cap="none" spc="0" normalizeH="0" baseline="0" noProof="0" dirty="0">
                  <a:ln>
                    <a:noFill/>
                  </a:ln>
                  <a:solidFill>
                    <a:srgbClr val="FBC52D"/>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BC52D"/>
                    </a:solidFill>
                    <a:effectLst/>
                    <a:uLnTx/>
                    <a:uFillTx/>
                    <a:cs typeface="+mn-ea"/>
                    <a:sym typeface="+mn-lt"/>
                  </a:rPr>
                  <a:t>results </a:t>
                </a:r>
                <a:r>
                  <a:rPr kumimoji="0" lang="en-US" altLang="zh-CN" sz="2400" b="0" i="0" u="none" strike="noStrike" kern="1200" cap="none" spc="0" normalizeH="0" baseline="0" noProof="0" dirty="0">
                    <a:ln>
                      <a:noFill/>
                    </a:ln>
                    <a:solidFill>
                      <a:srgbClr val="FBC52D"/>
                    </a:solidFill>
                    <a:effectLst/>
                    <a:uLnTx/>
                    <a:uFillTx/>
                    <a:cs typeface="+mn-ea"/>
                    <a:sym typeface="+mn-lt"/>
                  </a:rPr>
                  <a:t>presentation</a:t>
                </a:r>
                <a:endParaRPr kumimoji="0" lang="en-US" altLang="zh-CN" sz="2400" b="0" i="0" u="none" strike="noStrike" kern="1200" cap="none" spc="0" normalizeH="0" baseline="0" noProof="0" dirty="0">
                  <a:ln>
                    <a:noFill/>
                  </a:ln>
                  <a:solidFill>
                    <a:srgbClr val="FBC52D"/>
                  </a:solidFill>
                  <a:effectLst/>
                  <a:uLnTx/>
                  <a:uFillTx/>
                  <a:cs typeface="+mn-ea"/>
                  <a:sym typeface="+mn-lt"/>
                </a:endParaRPr>
              </a:p>
            </p:txBody>
          </p:sp>
        </p:grpSp>
        <p:sp>
          <p:nvSpPr>
            <p:cNvPr id="66" name="矩形 65"/>
            <p:cNvSpPr/>
            <p:nvPr/>
          </p:nvSpPr>
          <p:spPr>
            <a:xfrm>
              <a:off x="5393644" y="5111805"/>
              <a:ext cx="4226927" cy="389532"/>
            </a:xfrm>
            <a:prstGeom prst="rect">
              <a:avLst/>
            </a:prstGeom>
            <a:no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0" cap="none" spc="0" normalizeH="0" baseline="0" noProof="0" dirty="0">
                  <a:ln>
                    <a:noFill/>
                  </a:ln>
                  <a:solidFill>
                    <a:srgbClr val="FFFFFF"/>
                  </a:solidFill>
                  <a:effectLst/>
                  <a:uLnTx/>
                  <a:uFillTx/>
                  <a:cs typeface="+mn-ea"/>
                  <a:sym typeface="+mn-lt"/>
                </a:rPr>
                <a:t>Team</a:t>
              </a:r>
              <a:r>
                <a:rPr kumimoji="0" lang="zh-CN" altLang="en-US" sz="1600" b="0" i="0" u="none" strike="noStrike" kern="0" cap="none" spc="0" normalizeH="0" baseline="0" noProof="0" dirty="0">
                  <a:ln>
                    <a:noFill/>
                  </a:ln>
                  <a:solidFill>
                    <a:srgbClr val="FFFFFF"/>
                  </a:solidFill>
                  <a:effectLst/>
                  <a:uLnTx/>
                  <a:uFillTx/>
                  <a:cs typeface="+mn-ea"/>
                  <a:sym typeface="+mn-lt"/>
                </a:rPr>
                <a:t>：</a:t>
              </a:r>
              <a:r>
                <a:rPr kumimoji="0" lang="en-US" altLang="zh-CN" sz="1600" b="0" i="0" u="none" strike="noStrike" kern="0" cap="none" spc="0" normalizeH="0" baseline="0" noProof="0" dirty="0">
                  <a:ln>
                    <a:noFill/>
                  </a:ln>
                  <a:solidFill>
                    <a:srgbClr val="FFFFFF"/>
                  </a:solidFill>
                  <a:effectLst/>
                  <a:uLnTx/>
                  <a:uFillTx/>
                  <a:cs typeface="+mn-ea"/>
                  <a:sym typeface="+mn-lt"/>
                </a:rPr>
                <a:t>Team </a:t>
              </a:r>
              <a:r>
                <a:rPr kumimoji="0" lang="en-US" altLang="zh-CN" sz="1600" b="0" i="0" u="none" strike="noStrike" kern="0" cap="none" spc="0" normalizeH="0" baseline="0" noProof="0" dirty="0">
                  <a:ln>
                    <a:noFill/>
                  </a:ln>
                  <a:solidFill>
                    <a:srgbClr val="FFFFFF"/>
                  </a:solidFill>
                  <a:effectLst/>
                  <a:uLnTx/>
                  <a:uFillTx/>
                  <a:cs typeface="+mn-ea"/>
                  <a:sym typeface="+mn-lt"/>
                </a:rPr>
                <a:t>X  </a:t>
              </a:r>
              <a:endParaRPr kumimoji="0" lang="zh-CN" altLang="en-US" sz="1600" b="0" i="0" u="none" strike="noStrike" kern="0" cap="none" spc="0" normalizeH="0" baseline="0" noProof="0" dirty="0">
                <a:ln>
                  <a:noFill/>
                </a:ln>
                <a:solidFill>
                  <a:srgbClr val="FFFFFF"/>
                </a:solidFill>
                <a:effectLst/>
                <a:uLnTx/>
                <a:uFillTx/>
                <a:cs typeface="+mn-ea"/>
                <a:sym typeface="+mn-lt"/>
              </a:endParaRPr>
            </a:p>
          </p:txBody>
        </p:sp>
        <p:sp>
          <p:nvSpPr>
            <p:cNvPr id="67" name="文本框 66"/>
            <p:cNvSpPr txBox="1"/>
            <p:nvPr/>
          </p:nvSpPr>
          <p:spPr>
            <a:xfrm>
              <a:off x="5265847" y="956613"/>
              <a:ext cx="1763603" cy="70675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rgbClr val="FBC52D"/>
                  </a:solidFill>
                  <a:effectLst/>
                  <a:uLnTx/>
                  <a:uFillTx/>
                  <a:latin typeface="思源宋体 CN Heavy" panose="02020900000000000000" pitchFamily="18" charset="-122"/>
                  <a:ea typeface="思源宋体 CN Heavy" panose="02020900000000000000" pitchFamily="18" charset="-122"/>
                  <a:cs typeface="+mn-ea"/>
                  <a:sym typeface="+mn-lt"/>
                </a:rPr>
                <a:t>2026</a:t>
              </a:r>
              <a:endParaRPr kumimoji="0" lang="en-US" altLang="zh-CN" sz="4000" b="0" i="0" u="none" strike="noStrike" kern="1200" cap="none" spc="0" normalizeH="0" baseline="0" noProof="0" dirty="0">
                <a:ln>
                  <a:noFill/>
                </a:ln>
                <a:solidFill>
                  <a:srgbClr val="FBC52D"/>
                </a:solidFill>
                <a:effectLst/>
                <a:uLnTx/>
                <a:uFillTx/>
                <a:latin typeface="思源宋体 CN Heavy" panose="02020900000000000000" pitchFamily="18" charset="-122"/>
                <a:ea typeface="思源宋体 CN Heavy" panose="02020900000000000000" pitchFamily="18" charset="-122"/>
                <a:cs typeface="+mn-ea"/>
                <a:sym typeface="+mn-lt"/>
              </a:endParaRPr>
            </a:p>
          </p:txBody>
        </p:sp>
      </p:grpSp>
    </p:spTree>
    <p:custDataLst>
      <p:tags r:id="rId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flipH="1">
            <a:off x="0" y="2276454"/>
            <a:ext cx="12192000" cy="23050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1" name="组合 40"/>
          <p:cNvGrpSpPr/>
          <p:nvPr/>
        </p:nvGrpSpPr>
        <p:grpSpPr>
          <a:xfrm>
            <a:off x="4400550" y="0"/>
            <a:ext cx="7791450" cy="6858000"/>
            <a:chOff x="4711700" y="0"/>
            <a:chExt cx="7480300" cy="6858000"/>
          </a:xfrm>
        </p:grpSpPr>
        <p:sp>
          <p:nvSpPr>
            <p:cNvPr id="42" name="五边形 26"/>
            <p:cNvSpPr/>
            <p:nvPr/>
          </p:nvSpPr>
          <p:spPr>
            <a:xfrm flipH="1">
              <a:off x="4711700" y="0"/>
              <a:ext cx="7289800" cy="6858000"/>
            </a:xfrm>
            <a:prstGeom prst="homePlate">
              <a:avLst>
                <a:gd name="adj" fmla="val 169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五边形 4"/>
            <p:cNvSpPr/>
            <p:nvPr/>
          </p:nvSpPr>
          <p:spPr>
            <a:xfrm flipH="1">
              <a:off x="4902200" y="0"/>
              <a:ext cx="7289800" cy="6858000"/>
            </a:xfrm>
            <a:prstGeom prst="homePlate">
              <a:avLst>
                <a:gd name="adj" fmla="val 1691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4" name="组合 3"/>
          <p:cNvGrpSpPr/>
          <p:nvPr/>
        </p:nvGrpSpPr>
        <p:grpSpPr>
          <a:xfrm>
            <a:off x="6534150" y="1279729"/>
            <a:ext cx="4744653" cy="4298543"/>
            <a:chOff x="5924550" y="1809861"/>
            <a:chExt cx="4744653" cy="4298543"/>
          </a:xfrm>
        </p:grpSpPr>
        <p:grpSp>
          <p:nvGrpSpPr>
            <p:cNvPr id="3" name="组合 2"/>
            <p:cNvGrpSpPr/>
            <p:nvPr/>
          </p:nvGrpSpPr>
          <p:grpSpPr>
            <a:xfrm>
              <a:off x="5924550" y="1809861"/>
              <a:ext cx="4343986" cy="780940"/>
              <a:chOff x="6096000" y="1809861"/>
              <a:chExt cx="4343986" cy="780940"/>
            </a:xfrm>
          </p:grpSpPr>
          <p:sp>
            <p:nvSpPr>
              <p:cNvPr id="37" name="五边形 19"/>
              <p:cNvSpPr/>
              <p:nvPr/>
            </p:nvSpPr>
            <p:spPr>
              <a:xfrm>
                <a:off x="6096000" y="1809861"/>
                <a:ext cx="1041400" cy="780940"/>
              </a:xfrm>
              <a:prstGeom prst="homePlate">
                <a:avLst>
                  <a:gd name="adj" fmla="val 169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dirty="0">
                    <a:solidFill>
                      <a:srgbClr val="2F5597"/>
                    </a:solidFill>
                    <a:latin typeface="Impact" panose="020B0806030902050204" pitchFamily="34" charset="0"/>
                    <a:cs typeface="+mn-ea"/>
                    <a:sym typeface="+mn-lt"/>
                  </a:rPr>
                  <a:t>01</a:t>
                </a:r>
                <a:endParaRPr lang="en-US" altLang="zh-CN" sz="4800" dirty="0">
                  <a:solidFill>
                    <a:srgbClr val="2F5597"/>
                  </a:solidFill>
                  <a:latin typeface="Impact" panose="020B0806030902050204" pitchFamily="34" charset="0"/>
                  <a:cs typeface="+mn-ea"/>
                  <a:sym typeface="+mn-lt"/>
                </a:endParaRPr>
              </a:p>
            </p:txBody>
          </p:sp>
          <p:sp>
            <p:nvSpPr>
              <p:cNvPr id="45" name="TextBox 49"/>
              <p:cNvSpPr txBox="1"/>
              <p:nvPr/>
            </p:nvSpPr>
            <p:spPr>
              <a:xfrm>
                <a:off x="7318943" y="2026638"/>
                <a:ext cx="312104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dirty="0">
                    <a:solidFill>
                      <a:schemeClr val="bg1"/>
                    </a:solidFill>
                    <a:cs typeface="+mn-ea"/>
                    <a:sym typeface="+mn-lt"/>
                  </a:rPr>
                  <a:t>Backgrounds</a:t>
                </a:r>
                <a:endParaRPr lang="en-US" altLang="zh-CN" sz="2800" b="1" dirty="0">
                  <a:solidFill>
                    <a:schemeClr val="bg1"/>
                  </a:solidFill>
                  <a:cs typeface="+mn-ea"/>
                  <a:sym typeface="+mn-lt"/>
                </a:endParaRPr>
              </a:p>
            </p:txBody>
          </p:sp>
        </p:grpSp>
        <p:grpSp>
          <p:nvGrpSpPr>
            <p:cNvPr id="48" name="组合 47"/>
            <p:cNvGrpSpPr/>
            <p:nvPr/>
          </p:nvGrpSpPr>
          <p:grpSpPr>
            <a:xfrm>
              <a:off x="5924550" y="2982395"/>
              <a:ext cx="4343986" cy="1823962"/>
              <a:chOff x="6096000" y="1809861"/>
              <a:chExt cx="4343986" cy="1823962"/>
            </a:xfrm>
          </p:grpSpPr>
          <p:sp>
            <p:nvSpPr>
              <p:cNvPr id="49" name="五边形 19"/>
              <p:cNvSpPr/>
              <p:nvPr/>
            </p:nvSpPr>
            <p:spPr>
              <a:xfrm>
                <a:off x="6096000" y="1809861"/>
                <a:ext cx="1041400" cy="780940"/>
              </a:xfrm>
              <a:prstGeom prst="homePlate">
                <a:avLst>
                  <a:gd name="adj" fmla="val 169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dirty="0">
                    <a:solidFill>
                      <a:srgbClr val="2F5597"/>
                    </a:solidFill>
                    <a:latin typeface="Impact" panose="020B0806030902050204" pitchFamily="34" charset="0"/>
                    <a:cs typeface="+mn-ea"/>
                    <a:sym typeface="+mn-lt"/>
                  </a:rPr>
                  <a:t>02</a:t>
                </a:r>
                <a:endParaRPr lang="en-US" altLang="zh-CN" sz="4800" dirty="0">
                  <a:solidFill>
                    <a:srgbClr val="2F5597"/>
                  </a:solidFill>
                  <a:latin typeface="Impact" panose="020B0806030902050204" pitchFamily="34" charset="0"/>
                  <a:cs typeface="+mn-ea"/>
                  <a:sym typeface="+mn-lt"/>
                </a:endParaRPr>
              </a:p>
            </p:txBody>
          </p:sp>
          <p:sp>
            <p:nvSpPr>
              <p:cNvPr id="52" name="TextBox 49"/>
              <p:cNvSpPr txBox="1"/>
              <p:nvPr/>
            </p:nvSpPr>
            <p:spPr>
              <a:xfrm>
                <a:off x="7318943" y="3111853"/>
                <a:ext cx="3121043" cy="52197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sz="3200" b="1">
                    <a:solidFill>
                      <a:schemeClr val="bg1"/>
                    </a:solidFill>
                    <a:cs typeface="+mn-ea"/>
                  </a:defRPr>
                </a:lvl1pPr>
              </a:lstStyle>
              <a:p>
                <a:r>
                  <a:rPr lang="en-US" altLang="zh-CN" sz="2800" dirty="0">
                    <a:sym typeface="+mn-lt"/>
                  </a:rPr>
                  <a:t>Operation demo</a:t>
                </a:r>
                <a:endParaRPr lang="en-US" altLang="zh-CN" sz="2800" dirty="0">
                  <a:sym typeface="+mn-lt"/>
                </a:endParaRPr>
              </a:p>
            </p:txBody>
          </p:sp>
        </p:grpSp>
        <p:grpSp>
          <p:nvGrpSpPr>
            <p:cNvPr id="53" name="组合 52"/>
            <p:cNvGrpSpPr/>
            <p:nvPr/>
          </p:nvGrpSpPr>
          <p:grpSpPr>
            <a:xfrm>
              <a:off x="5924550" y="4154929"/>
              <a:ext cx="4744653" cy="1790117"/>
              <a:chOff x="6096000" y="1809861"/>
              <a:chExt cx="4744653" cy="1790117"/>
            </a:xfrm>
          </p:grpSpPr>
          <p:sp>
            <p:nvSpPr>
              <p:cNvPr id="54" name="五边形 19"/>
              <p:cNvSpPr/>
              <p:nvPr/>
            </p:nvSpPr>
            <p:spPr>
              <a:xfrm>
                <a:off x="6096000" y="1809861"/>
                <a:ext cx="1041400" cy="780940"/>
              </a:xfrm>
              <a:prstGeom prst="homePlate">
                <a:avLst>
                  <a:gd name="adj" fmla="val 169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dirty="0">
                    <a:solidFill>
                      <a:srgbClr val="2F5597"/>
                    </a:solidFill>
                    <a:latin typeface="Impact" panose="020B0806030902050204" pitchFamily="34" charset="0"/>
                    <a:cs typeface="+mn-ea"/>
                    <a:sym typeface="+mn-lt"/>
                  </a:rPr>
                  <a:t>03</a:t>
                </a:r>
                <a:endParaRPr lang="en-US" altLang="zh-CN" sz="4800" dirty="0">
                  <a:solidFill>
                    <a:srgbClr val="2F5597"/>
                  </a:solidFill>
                  <a:latin typeface="Impact" panose="020B0806030902050204" pitchFamily="34" charset="0"/>
                  <a:cs typeface="+mn-ea"/>
                  <a:sym typeface="+mn-lt"/>
                </a:endParaRPr>
              </a:p>
            </p:txBody>
          </p:sp>
          <p:sp>
            <p:nvSpPr>
              <p:cNvPr id="57" name="TextBox 49"/>
              <p:cNvSpPr txBox="1"/>
              <p:nvPr/>
            </p:nvSpPr>
            <p:spPr>
              <a:xfrm>
                <a:off x="7318943" y="3130268"/>
                <a:ext cx="3521710" cy="46971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sz="3200" b="1">
                    <a:solidFill>
                      <a:schemeClr val="bg1"/>
                    </a:solidFill>
                    <a:cs typeface="+mn-ea"/>
                  </a:defRPr>
                </a:lvl1pPr>
              </a:lstStyle>
              <a:p>
                <a:r>
                  <a:rPr lang="en-US" altLang="zh-CN" sz="2800" dirty="0">
                    <a:sym typeface="+mn-lt"/>
                  </a:rPr>
                  <a:t>Design </a:t>
                </a:r>
                <a:r>
                  <a:rPr lang="en-US" altLang="zh-CN" sz="2800" dirty="0">
                    <a:sym typeface="+mn-lt"/>
                  </a:rPr>
                  <a:t>conception</a:t>
                </a:r>
                <a:endParaRPr lang="en-US" altLang="zh-CN" sz="2800" dirty="0">
                  <a:sym typeface="+mn-lt"/>
                </a:endParaRPr>
              </a:p>
            </p:txBody>
          </p:sp>
        </p:grpSp>
        <p:grpSp>
          <p:nvGrpSpPr>
            <p:cNvPr id="59" name="组合 58"/>
            <p:cNvGrpSpPr/>
            <p:nvPr/>
          </p:nvGrpSpPr>
          <p:grpSpPr>
            <a:xfrm>
              <a:off x="5924550" y="3112191"/>
              <a:ext cx="4343986" cy="2996213"/>
              <a:chOff x="6096000" y="-405412"/>
              <a:chExt cx="4343986" cy="2996213"/>
            </a:xfrm>
          </p:grpSpPr>
          <p:sp>
            <p:nvSpPr>
              <p:cNvPr id="60" name="五边形 19"/>
              <p:cNvSpPr/>
              <p:nvPr/>
            </p:nvSpPr>
            <p:spPr>
              <a:xfrm>
                <a:off x="6096000" y="1809861"/>
                <a:ext cx="1041400" cy="780940"/>
              </a:xfrm>
              <a:prstGeom prst="homePlate">
                <a:avLst>
                  <a:gd name="adj" fmla="val 1691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dirty="0">
                    <a:solidFill>
                      <a:srgbClr val="2F5597"/>
                    </a:solidFill>
                    <a:latin typeface="Impact" panose="020B0806030902050204" pitchFamily="34" charset="0"/>
                    <a:cs typeface="+mn-ea"/>
                    <a:sym typeface="+mn-lt"/>
                  </a:rPr>
                  <a:t>04</a:t>
                </a:r>
                <a:endParaRPr lang="en-US" altLang="zh-CN" sz="4800" dirty="0">
                  <a:solidFill>
                    <a:srgbClr val="2F5597"/>
                  </a:solidFill>
                  <a:latin typeface="Impact" panose="020B0806030902050204" pitchFamily="34" charset="0"/>
                  <a:cs typeface="+mn-ea"/>
                  <a:sym typeface="+mn-lt"/>
                </a:endParaRPr>
              </a:p>
            </p:txBody>
          </p:sp>
          <p:sp>
            <p:nvSpPr>
              <p:cNvPr id="66" name="TextBox 49"/>
              <p:cNvSpPr txBox="1"/>
              <p:nvPr/>
            </p:nvSpPr>
            <p:spPr>
              <a:xfrm>
                <a:off x="7318943" y="-405412"/>
                <a:ext cx="3121043" cy="521970"/>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sz="3200" b="1">
                    <a:solidFill>
                      <a:schemeClr val="bg1"/>
                    </a:solidFill>
                    <a:cs typeface="+mn-ea"/>
                  </a:defRPr>
                </a:lvl1pPr>
              </a:lstStyle>
              <a:p>
                <a:r>
                  <a:rPr lang="en-US" altLang="zh-CN" sz="2800" dirty="0">
                    <a:sym typeface="+mn-lt"/>
                  </a:rPr>
                  <a:t>Overall process</a:t>
                </a:r>
                <a:endParaRPr lang="en-US" altLang="zh-CN" sz="2800" dirty="0">
                  <a:sym typeface="+mn-lt"/>
                </a:endParaRPr>
              </a:p>
            </p:txBody>
          </p:sp>
        </p:grpSp>
      </p:grpSp>
      <p:grpSp>
        <p:nvGrpSpPr>
          <p:cNvPr id="67" name="组合 66"/>
          <p:cNvGrpSpPr/>
          <p:nvPr/>
        </p:nvGrpSpPr>
        <p:grpSpPr>
          <a:xfrm flipH="1">
            <a:off x="-57843" y="1823176"/>
            <a:ext cx="3372055" cy="89175"/>
            <a:chOff x="6741212" y="387738"/>
            <a:chExt cx="5092048" cy="172787"/>
          </a:xfrm>
          <a:solidFill>
            <a:schemeClr val="accent1"/>
          </a:solidFill>
        </p:grpSpPr>
        <p:sp>
          <p:nvSpPr>
            <p:cNvPr id="68" name="平行四边形 67"/>
            <p:cNvSpPr/>
            <p:nvPr/>
          </p:nvSpPr>
          <p:spPr>
            <a:xfrm flipH="1">
              <a:off x="6741212"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9" name="平行四边形 68"/>
            <p:cNvSpPr/>
            <p:nvPr/>
          </p:nvSpPr>
          <p:spPr>
            <a:xfrm flipH="1">
              <a:off x="8128699"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0" name="平行四边形 69"/>
            <p:cNvSpPr/>
            <p:nvPr/>
          </p:nvSpPr>
          <p:spPr>
            <a:xfrm flipH="1">
              <a:off x="9516186"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平行四边形 70"/>
            <p:cNvSpPr/>
            <p:nvPr/>
          </p:nvSpPr>
          <p:spPr>
            <a:xfrm flipH="1">
              <a:off x="10903673"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72" name="组合 71"/>
          <p:cNvGrpSpPr/>
          <p:nvPr/>
        </p:nvGrpSpPr>
        <p:grpSpPr>
          <a:xfrm>
            <a:off x="1580457" y="4945650"/>
            <a:ext cx="3372055" cy="89175"/>
            <a:chOff x="6741212" y="387738"/>
            <a:chExt cx="5092048" cy="172787"/>
          </a:xfrm>
          <a:solidFill>
            <a:schemeClr val="accent2"/>
          </a:solidFill>
        </p:grpSpPr>
        <p:sp>
          <p:nvSpPr>
            <p:cNvPr id="73" name="平行四边形 72"/>
            <p:cNvSpPr/>
            <p:nvPr/>
          </p:nvSpPr>
          <p:spPr>
            <a:xfrm flipH="1">
              <a:off x="6741212" y="387738"/>
              <a:ext cx="929587" cy="17278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平行四边形 73"/>
            <p:cNvSpPr/>
            <p:nvPr/>
          </p:nvSpPr>
          <p:spPr>
            <a:xfrm flipH="1">
              <a:off x="8128699"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平行四边形 74"/>
            <p:cNvSpPr/>
            <p:nvPr/>
          </p:nvSpPr>
          <p:spPr>
            <a:xfrm flipH="1">
              <a:off x="9516186" y="387738"/>
              <a:ext cx="929587" cy="17278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平行四边形 75"/>
            <p:cNvSpPr/>
            <p:nvPr/>
          </p:nvSpPr>
          <p:spPr>
            <a:xfrm flipH="1">
              <a:off x="10903673"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78" name="组合 77"/>
          <p:cNvGrpSpPr/>
          <p:nvPr/>
        </p:nvGrpSpPr>
        <p:grpSpPr>
          <a:xfrm>
            <a:off x="945307" y="2665367"/>
            <a:ext cx="2775455" cy="1527267"/>
            <a:chOff x="9455580" y="504596"/>
            <a:chExt cx="2775455" cy="1527267"/>
          </a:xfrm>
        </p:grpSpPr>
        <p:sp>
          <p:nvSpPr>
            <p:cNvPr id="79" name="文本框 78"/>
            <p:cNvSpPr txBox="1"/>
            <p:nvPr/>
          </p:nvSpPr>
          <p:spPr>
            <a:xfrm>
              <a:off x="9455580" y="504596"/>
              <a:ext cx="2664460" cy="1014730"/>
            </a:xfrm>
            <a:prstGeom prst="rect">
              <a:avLst/>
            </a:prstGeom>
            <a:noFill/>
          </p:spPr>
          <p:txBody>
            <a:bodyPr wrap="square" rtlCol="0">
              <a:spAutoFit/>
            </a:bodyPr>
            <a:lstStyle/>
            <a:p>
              <a:pPr algn="ctr"/>
              <a:r>
                <a:rPr lang="en-US" altLang="zh-CN" sz="6000" dirty="0">
                  <a:solidFill>
                    <a:schemeClr val="bg1"/>
                  </a:solidFill>
                  <a:latin typeface="思源宋体 CN Heavy" panose="02020900000000000000" pitchFamily="18" charset="-122"/>
                  <a:ea typeface="思源宋体 CN Heavy" panose="02020900000000000000" pitchFamily="18" charset="-122"/>
                  <a:cs typeface="+mn-ea"/>
                  <a:sym typeface="+mn-lt"/>
                </a:rPr>
                <a:t>Table </a:t>
              </a:r>
              <a:r>
                <a:rPr lang="en-US" altLang="zh-CN" sz="6000" dirty="0">
                  <a:solidFill>
                    <a:schemeClr val="bg1"/>
                  </a:solidFill>
                  <a:latin typeface="思源宋体 CN Heavy" panose="02020900000000000000" pitchFamily="18" charset="-122"/>
                  <a:ea typeface="思源宋体 CN Heavy" panose="02020900000000000000" pitchFamily="18" charset="-122"/>
                  <a:cs typeface="+mn-ea"/>
                  <a:sym typeface="+mn-lt"/>
                </a:rPr>
                <a:t>of</a:t>
              </a:r>
              <a:endParaRPr lang="en-US" altLang="zh-CN" sz="6000" dirty="0">
                <a:solidFill>
                  <a:schemeClr val="bg1"/>
                </a:solidFill>
                <a:latin typeface="思源宋体 CN Heavy" panose="02020900000000000000" pitchFamily="18" charset="-122"/>
                <a:ea typeface="思源宋体 CN Heavy" panose="02020900000000000000" pitchFamily="18" charset="-122"/>
                <a:cs typeface="+mn-ea"/>
                <a:sym typeface="+mn-lt"/>
              </a:endParaRPr>
            </a:p>
          </p:txBody>
        </p:sp>
        <p:sp>
          <p:nvSpPr>
            <p:cNvPr id="80" name="文本框 79"/>
            <p:cNvSpPr txBox="1"/>
            <p:nvPr/>
          </p:nvSpPr>
          <p:spPr>
            <a:xfrm>
              <a:off x="9455580" y="1382903"/>
              <a:ext cx="2775455" cy="648960"/>
            </a:xfrm>
            <a:prstGeom prst="rect">
              <a:avLst/>
            </a:prstGeom>
            <a:noFill/>
          </p:spPr>
          <p:txBody>
            <a:bodyPr wrap="square" rtlCol="0">
              <a:spAutoFit/>
            </a:bodyPr>
            <a:lstStyle/>
            <a:p>
              <a:pPr algn="ctr">
                <a:lnSpc>
                  <a:spcPct val="140000"/>
                </a:lnSpc>
              </a:pPr>
              <a:r>
                <a:rPr lang="en-US" altLang="zh-CN" sz="2800" dirty="0">
                  <a:solidFill>
                    <a:schemeClr val="bg1"/>
                  </a:solidFill>
                  <a:cs typeface="+mn-ea"/>
                  <a:sym typeface="+mn-lt"/>
                </a:rPr>
                <a:t>CONTENTS</a:t>
              </a:r>
              <a:endParaRPr lang="zh-CN" altLang="en-US" sz="2800" dirty="0">
                <a:solidFill>
                  <a:schemeClr val="bg1"/>
                </a:solidFill>
                <a:cs typeface="+mn-ea"/>
                <a:sym typeface="+mn-lt"/>
              </a:endParaRPr>
            </a:p>
          </p:txBody>
        </p:sp>
      </p:grpSp>
      <p:sp>
        <p:nvSpPr>
          <p:cNvPr id="6" name="TextBox 9"/>
          <p:cNvSpPr txBox="1"/>
          <p:nvPr/>
        </p:nvSpPr>
        <p:spPr>
          <a:xfrm>
            <a:off x="-57843" y="0"/>
            <a:ext cx="453651"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noFill/>
                <a:effectLst/>
                <a:uLnTx/>
                <a:uFillTx/>
              </a:rPr>
              <a:t>PPT</a:t>
            </a:r>
            <a:r>
              <a:rPr kumimoji="0" lang="zh-CN" altLang="en-US" sz="100" b="0" i="0" u="none" strike="noStrike" kern="0" cap="none" spc="0" normalizeH="0" baseline="0" noProof="0" dirty="0">
                <a:ln>
                  <a:noFill/>
                </a:ln>
                <a:noFill/>
                <a:effectLst/>
                <a:uLnTx/>
                <a:uFillTx/>
              </a:rPr>
              <a:t>下载 </a:t>
            </a:r>
            <a:r>
              <a:rPr kumimoji="0" lang="en-US" altLang="zh-CN" sz="100" b="0" i="0" u="none" strike="noStrike" kern="0" cap="none" spc="0" normalizeH="0" baseline="0" noProof="0" dirty="0">
                <a:ln>
                  <a:noFill/>
                </a:ln>
                <a:noFill/>
                <a:effectLst/>
                <a:uLnTx/>
                <a:uFillTx/>
              </a:rPr>
              <a:t>http://www.1ppt.com/xiazai/</a:t>
            </a:r>
            <a:endParaRPr kumimoji="0" lang="en-US" altLang="zh-CN" sz="100" b="0" i="0" u="none" strike="noStrike" kern="0" cap="none" spc="0" normalizeH="0" baseline="0" noProof="0" dirty="0">
              <a:ln>
                <a:noFill/>
              </a:ln>
              <a:noFill/>
              <a:effectLst/>
              <a:uLnTx/>
              <a:uFillTx/>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五边形 18"/>
          <p:cNvSpPr/>
          <p:nvPr/>
        </p:nvSpPr>
        <p:spPr>
          <a:xfrm rot="5400000">
            <a:off x="4363438" y="-162964"/>
            <a:ext cx="3465124" cy="3791052"/>
          </a:xfrm>
          <a:prstGeom prst="homePlate">
            <a:avLst>
              <a:gd name="adj" fmla="val 522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菱形 17"/>
          <p:cNvSpPr/>
          <p:nvPr/>
        </p:nvSpPr>
        <p:spPr>
          <a:xfrm>
            <a:off x="4978400" y="698500"/>
            <a:ext cx="2235200" cy="22352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solidFill>
                  <a:srgbClr val="2F5597"/>
                </a:solidFill>
                <a:latin typeface="Impact" panose="020B0806030902050204" pitchFamily="34" charset="0"/>
                <a:cs typeface="+mn-ea"/>
                <a:sym typeface="+mn-lt"/>
              </a:rPr>
              <a:t>01</a:t>
            </a:r>
            <a:endParaRPr lang="en-US" altLang="zh-CN" sz="5400" dirty="0">
              <a:solidFill>
                <a:srgbClr val="2F5597"/>
              </a:solidFill>
              <a:latin typeface="Impact" panose="020B0806030902050204" pitchFamily="34" charset="0"/>
              <a:cs typeface="+mn-ea"/>
              <a:sym typeface="+mn-lt"/>
            </a:endParaRPr>
          </a:p>
        </p:txBody>
      </p:sp>
      <p:grpSp>
        <p:nvGrpSpPr>
          <p:cNvPr id="22" name="组合 21"/>
          <p:cNvGrpSpPr/>
          <p:nvPr/>
        </p:nvGrpSpPr>
        <p:grpSpPr>
          <a:xfrm flipH="1">
            <a:off x="4409973" y="5023576"/>
            <a:ext cx="3372055" cy="89175"/>
            <a:chOff x="6741212" y="387738"/>
            <a:chExt cx="5092048" cy="172787"/>
          </a:xfrm>
          <a:solidFill>
            <a:schemeClr val="accent1"/>
          </a:solidFill>
        </p:grpSpPr>
        <p:sp>
          <p:nvSpPr>
            <p:cNvPr id="23" name="平行四边形 22"/>
            <p:cNvSpPr/>
            <p:nvPr/>
          </p:nvSpPr>
          <p:spPr>
            <a:xfrm flipH="1">
              <a:off x="6741212"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平行四边形 23"/>
            <p:cNvSpPr/>
            <p:nvPr/>
          </p:nvSpPr>
          <p:spPr>
            <a:xfrm flipH="1">
              <a:off x="8128699"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平行四边形 24"/>
            <p:cNvSpPr/>
            <p:nvPr/>
          </p:nvSpPr>
          <p:spPr>
            <a:xfrm flipH="1">
              <a:off x="9516186"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平行四边形 25"/>
            <p:cNvSpPr/>
            <p:nvPr/>
          </p:nvSpPr>
          <p:spPr>
            <a:xfrm flipH="1">
              <a:off x="10903673"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文本框 26"/>
          <p:cNvSpPr txBox="1"/>
          <p:nvPr/>
        </p:nvSpPr>
        <p:spPr>
          <a:xfrm>
            <a:off x="2440940" y="3738245"/>
            <a:ext cx="7309485" cy="1106805"/>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sym typeface="+mn-lt"/>
              </a:rPr>
              <a:t>B</a:t>
            </a:r>
            <a:r>
              <a:rPr kumimoji="0" lang="en-US" altLang="zh-CN" sz="6600" b="0" i="0" u="none" strike="noStrike" kern="1200" cap="none" spc="0" normalizeH="0" baseline="0" noProof="0" dirty="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sym typeface="+mn-lt"/>
              </a:rPr>
              <a:t>ackground</a:t>
            </a:r>
            <a:endParaRPr kumimoji="0" lang="en-US" altLang="zh-CN" sz="6600" b="0" i="0" u="none" strike="noStrike" kern="1200" cap="none" spc="0" normalizeH="0" baseline="0" noProof="0" dirty="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sym typeface="+mn-lt"/>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nvSpPr>
        <p:spPr>
          <a:xfrm>
            <a:off x="1069340" y="195580"/>
            <a:ext cx="3619500" cy="460375"/>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3200" b="1" i="0" u="none" strike="noStrike" cap="none" spc="0" normalizeH="0" baseline="0">
                <a:ln>
                  <a:noFill/>
                </a:ln>
                <a:solidFill>
                  <a:srgbClr val="000000">
                    <a:lumMod val="85000"/>
                    <a:lumOff val="15000"/>
                  </a:srgbClr>
                </a:solidFill>
                <a:effectLst/>
                <a:uLnTx/>
                <a:uFillTx/>
                <a:cs typeface="+mn-ea"/>
              </a:defRPr>
            </a:lvl1pPr>
          </a:lstStyle>
          <a:p>
            <a:r>
              <a:rPr lang="en-US" altLang="zh-CN" sz="2400" dirty="0">
                <a:sym typeface="+mn-lt"/>
              </a:rPr>
              <a:t>BACKGROUNDS</a:t>
            </a:r>
            <a:endParaRPr lang="en-US" altLang="zh-CN" sz="2400" dirty="0">
              <a:sym typeface="+mn-lt"/>
            </a:endParaRPr>
          </a:p>
        </p:txBody>
      </p:sp>
      <p:cxnSp>
        <p:nvCxnSpPr>
          <p:cNvPr id="38" name="1符 50"/>
          <p:cNvCxnSpPr/>
          <p:nvPr>
            <p:custDataLst>
              <p:tags r:id="rId1"/>
            </p:custDataLst>
          </p:nvPr>
        </p:nvCxnSpPr>
        <p:spPr>
          <a:xfrm>
            <a:off x="4973822" y="1831785"/>
            <a:ext cx="2244355" cy="0"/>
          </a:xfrm>
          <a:prstGeom prst="line">
            <a:avLst/>
          </a:prstGeom>
          <a:gradFill>
            <a:gsLst>
              <a:gs pos="0">
                <a:srgbClr val="EE552A"/>
              </a:gs>
              <a:gs pos="100000">
                <a:srgbClr val="EE552A">
                  <a:alpha val="70000"/>
                </a:srgbClr>
              </a:gs>
            </a:gsLst>
            <a:lin ang="13500000" scaled="1"/>
          </a:gradFill>
          <a:ln w="19050">
            <a:noFill/>
            <a:round/>
          </a:ln>
        </p:spPr>
      </p:cxnSp>
      <p:cxnSp>
        <p:nvCxnSpPr>
          <p:cNvPr id="39" name="1"/>
          <p:cNvCxnSpPr/>
          <p:nvPr>
            <p:custDataLst>
              <p:tags r:id="rId2"/>
            </p:custDataLst>
          </p:nvPr>
        </p:nvCxnSpPr>
        <p:spPr>
          <a:xfrm>
            <a:off x="7515616" y="1831785"/>
            <a:ext cx="2244355" cy="0"/>
          </a:xfrm>
          <a:prstGeom prst="line">
            <a:avLst/>
          </a:prstGeom>
          <a:gradFill>
            <a:gsLst>
              <a:gs pos="0">
                <a:srgbClr val="EE552A"/>
              </a:gs>
              <a:gs pos="100000">
                <a:srgbClr val="EE552A">
                  <a:alpha val="70000"/>
                </a:srgbClr>
              </a:gs>
            </a:gsLst>
            <a:lin ang="13500000" scaled="1"/>
          </a:gradFill>
          <a:ln w="19050">
            <a:noFill/>
            <a:round/>
          </a:ln>
        </p:spPr>
      </p:cxnSp>
      <p:cxnSp>
        <p:nvCxnSpPr>
          <p:cNvPr id="40" name="1"/>
          <p:cNvCxnSpPr/>
          <p:nvPr>
            <p:custDataLst>
              <p:tags r:id="rId3"/>
            </p:custDataLst>
          </p:nvPr>
        </p:nvCxnSpPr>
        <p:spPr>
          <a:xfrm>
            <a:off x="2432028" y="1831785"/>
            <a:ext cx="2244355" cy="0"/>
          </a:xfrm>
          <a:prstGeom prst="line">
            <a:avLst/>
          </a:prstGeom>
          <a:gradFill>
            <a:gsLst>
              <a:gs pos="0">
                <a:srgbClr val="EE552A"/>
              </a:gs>
              <a:gs pos="100000">
                <a:srgbClr val="EE552A">
                  <a:alpha val="70000"/>
                </a:srgbClr>
              </a:gs>
            </a:gsLst>
            <a:lin ang="13500000" scaled="1"/>
          </a:gradFill>
          <a:ln w="19050">
            <a:noFill/>
            <a:round/>
          </a:ln>
        </p:spPr>
      </p:cxnSp>
      <p:sp>
        <p:nvSpPr>
          <p:cNvPr id="41" name="1"/>
          <p:cNvSpPr/>
          <p:nvPr>
            <p:custDataLst>
              <p:tags r:id="rId4"/>
            </p:custDataLst>
          </p:nvPr>
        </p:nvSpPr>
        <p:spPr bwMode="auto">
          <a:xfrm>
            <a:off x="1380027" y="1115505"/>
            <a:ext cx="1638923" cy="511151"/>
          </a:xfrm>
          <a:prstGeom prst="roundRect">
            <a:avLst/>
          </a:prstGeom>
          <a:solidFill>
            <a:schemeClr val="accent1"/>
          </a:solidFill>
          <a:ln w="12700" cap="flat" cmpd="sng" algn="ctr">
            <a:noFill/>
            <a:prstDash val="solid"/>
            <a:miter lim="800000"/>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00" b="1" i="0" u="none" strike="noStrike" kern="0" cap="none" spc="0" normalizeH="0" baseline="0" noProof="0" dirty="0">
              <a:ln>
                <a:noFill/>
              </a:ln>
              <a:solidFill>
                <a:prstClr val="white"/>
              </a:solidFill>
              <a:effectLst/>
              <a:uLnTx/>
              <a:uFillTx/>
              <a:cs typeface="+mn-ea"/>
              <a:sym typeface="+mn-lt"/>
            </a:endParaRPr>
          </a:p>
        </p:txBody>
      </p:sp>
      <p:grpSp>
        <p:nvGrpSpPr>
          <p:cNvPr id="43" name="1"/>
          <p:cNvGrpSpPr/>
          <p:nvPr>
            <p:custDataLst>
              <p:tags r:id="rId5"/>
            </p:custDataLst>
          </p:nvPr>
        </p:nvGrpSpPr>
        <p:grpSpPr>
          <a:xfrm>
            <a:off x="2070764" y="1832141"/>
            <a:ext cx="257449" cy="257449"/>
            <a:chOff x="1877352" y="4196226"/>
            <a:chExt cx="225768" cy="225768"/>
          </a:xfrm>
          <a:solidFill>
            <a:srgbClr val="4472C4"/>
          </a:solidFill>
        </p:grpSpPr>
        <p:sp>
          <p:nvSpPr>
            <p:cNvPr id="44" name="Oval 63"/>
            <p:cNvSpPr/>
            <p:nvPr/>
          </p:nvSpPr>
          <p:spPr>
            <a:xfrm>
              <a:off x="1877352" y="4196226"/>
              <a:ext cx="225768" cy="225768"/>
            </a:xfrm>
            <a:prstGeom prst="ellipse">
              <a:avLst/>
            </a:prstGeom>
            <a:solidFill>
              <a:schemeClr val="accent1"/>
            </a:solidFill>
            <a:ln w="19050">
              <a:solidFill>
                <a:schemeClr val="accent1"/>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sp>
          <p:nvSpPr>
            <p:cNvPr id="45" name="Oval 64"/>
            <p:cNvSpPr/>
            <p:nvPr/>
          </p:nvSpPr>
          <p:spPr>
            <a:xfrm>
              <a:off x="1944516" y="4263390"/>
              <a:ext cx="91440" cy="91440"/>
            </a:xfrm>
            <a:prstGeom prst="ellipse">
              <a:avLst/>
            </a:prstGeom>
            <a:solidFill>
              <a:sysClr val="window" lastClr="FFFFFF"/>
            </a:solidFill>
            <a:ln w="19050">
              <a:solidFill>
                <a:schemeClr val="accent1"/>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grpSp>
      <p:grpSp>
        <p:nvGrpSpPr>
          <p:cNvPr id="49" name="组合 48"/>
          <p:cNvGrpSpPr/>
          <p:nvPr/>
        </p:nvGrpSpPr>
        <p:grpSpPr>
          <a:xfrm>
            <a:off x="782396" y="2411400"/>
            <a:ext cx="2834005" cy="1205865"/>
            <a:chOff x="1990888" y="1991431"/>
            <a:chExt cx="2834005" cy="1205865"/>
          </a:xfrm>
        </p:grpSpPr>
        <p:sp>
          <p:nvSpPr>
            <p:cNvPr id="50" name="9"/>
            <p:cNvSpPr/>
            <p:nvPr/>
          </p:nvSpPr>
          <p:spPr>
            <a:xfrm>
              <a:off x="2102013" y="1991431"/>
              <a:ext cx="2611935" cy="521970"/>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effectLst/>
                  <a:uLnTx/>
                  <a:uFillTx/>
                  <a:cs typeface="+mn-ea"/>
                  <a:sym typeface="+mn-lt"/>
                </a:rPr>
                <a:t>Main </a:t>
              </a:r>
              <a:r>
                <a:rPr kumimoji="0" lang="en-US" altLang="zh-CN" sz="2800" b="1" i="0" u="none" strike="noStrike" kern="1200" cap="none" spc="0" normalizeH="0" baseline="0" noProof="0" dirty="0">
                  <a:ln>
                    <a:noFill/>
                  </a:ln>
                  <a:effectLst/>
                  <a:uLnTx/>
                  <a:uFillTx/>
                  <a:cs typeface="+mn-ea"/>
                  <a:sym typeface="+mn-lt"/>
                </a:rPr>
                <a:t>Users</a:t>
              </a:r>
              <a:endParaRPr kumimoji="0" lang="en-US" altLang="zh-CN" sz="2800" b="1" i="0" u="none" strike="noStrike" kern="1200" cap="none" spc="0" normalizeH="0" baseline="0" noProof="0" dirty="0">
                <a:ln>
                  <a:noFill/>
                </a:ln>
                <a:effectLst/>
                <a:uLnTx/>
                <a:uFillTx/>
                <a:cs typeface="+mn-ea"/>
                <a:sym typeface="+mn-lt"/>
              </a:endParaRPr>
            </a:p>
          </p:txBody>
        </p:sp>
        <p:sp>
          <p:nvSpPr>
            <p:cNvPr id="51" name="10"/>
            <p:cNvSpPr/>
            <p:nvPr/>
          </p:nvSpPr>
          <p:spPr>
            <a:xfrm>
              <a:off x="1990888" y="2460061"/>
              <a:ext cx="2834005" cy="737235"/>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Managers of small </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restaurants in Malaysia</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p:txBody>
        </p:sp>
      </p:grpSp>
      <p:sp>
        <p:nvSpPr>
          <p:cNvPr id="52" name="1"/>
          <p:cNvSpPr/>
          <p:nvPr>
            <p:custDataLst>
              <p:tags r:id="rId6"/>
            </p:custDataLst>
          </p:nvPr>
        </p:nvSpPr>
        <p:spPr bwMode="auto">
          <a:xfrm>
            <a:off x="9005411" y="1115505"/>
            <a:ext cx="1638923" cy="511151"/>
          </a:xfrm>
          <a:prstGeom prst="roundRect">
            <a:avLst/>
          </a:prstGeom>
          <a:solidFill>
            <a:schemeClr val="accent2"/>
          </a:solidFill>
          <a:ln w="12700" cap="flat" cmpd="sng" algn="ctr">
            <a:noFill/>
            <a:prstDash val="solid"/>
            <a:miter lim="800000"/>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00" b="1" i="0" u="none" strike="noStrike" kern="0" cap="none" spc="0" normalizeH="0" baseline="0" noProof="0" dirty="0">
              <a:ln>
                <a:noFill/>
              </a:ln>
              <a:solidFill>
                <a:prstClr val="white"/>
              </a:solidFill>
              <a:effectLst/>
              <a:uLnTx/>
              <a:uFillTx/>
              <a:cs typeface="+mn-ea"/>
              <a:sym typeface="+mn-lt"/>
            </a:endParaRPr>
          </a:p>
        </p:txBody>
      </p:sp>
      <p:grpSp>
        <p:nvGrpSpPr>
          <p:cNvPr id="53" name="1"/>
          <p:cNvGrpSpPr/>
          <p:nvPr>
            <p:custDataLst>
              <p:tags r:id="rId7"/>
            </p:custDataLst>
          </p:nvPr>
        </p:nvGrpSpPr>
        <p:grpSpPr>
          <a:xfrm>
            <a:off x="9696148" y="1832141"/>
            <a:ext cx="257449" cy="257449"/>
            <a:chOff x="7409029" y="2800350"/>
            <a:chExt cx="201492" cy="201492"/>
          </a:xfrm>
          <a:solidFill>
            <a:srgbClr val="4472C4"/>
          </a:solidFill>
        </p:grpSpPr>
        <p:sp>
          <p:nvSpPr>
            <p:cNvPr id="54" name="Oval 60"/>
            <p:cNvSpPr/>
            <p:nvPr/>
          </p:nvSpPr>
          <p:spPr>
            <a:xfrm>
              <a:off x="7409029" y="2800350"/>
              <a:ext cx="201492" cy="201492"/>
            </a:xfrm>
            <a:prstGeom prst="ellipse">
              <a:avLst/>
            </a:prstGeom>
            <a:solidFill>
              <a:schemeClr val="accent2"/>
            </a:solidFill>
            <a:ln w="19050">
              <a:solidFill>
                <a:schemeClr val="accent2"/>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sp>
          <p:nvSpPr>
            <p:cNvPr id="55" name="Oval 61"/>
            <p:cNvSpPr/>
            <p:nvPr/>
          </p:nvSpPr>
          <p:spPr>
            <a:xfrm>
              <a:off x="7468971" y="2860291"/>
              <a:ext cx="81608" cy="81608"/>
            </a:xfrm>
            <a:prstGeom prst="ellipse">
              <a:avLst/>
            </a:prstGeom>
            <a:solidFill>
              <a:sysClr val="window" lastClr="FFFFFF"/>
            </a:solidFill>
            <a:ln w="19050">
              <a:solidFill>
                <a:schemeClr val="accent2"/>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grpSp>
      <p:grpSp>
        <p:nvGrpSpPr>
          <p:cNvPr id="59" name="组合 58"/>
          <p:cNvGrpSpPr/>
          <p:nvPr/>
        </p:nvGrpSpPr>
        <p:grpSpPr>
          <a:xfrm>
            <a:off x="8356980" y="2358060"/>
            <a:ext cx="2935605" cy="1242129"/>
            <a:chOff x="1940088" y="1938091"/>
            <a:chExt cx="2935605" cy="1242129"/>
          </a:xfrm>
        </p:grpSpPr>
        <p:sp>
          <p:nvSpPr>
            <p:cNvPr id="60" name="9"/>
            <p:cNvSpPr/>
            <p:nvPr/>
          </p:nvSpPr>
          <p:spPr>
            <a:xfrm>
              <a:off x="1940088" y="1938091"/>
              <a:ext cx="2935605" cy="521970"/>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effectLst/>
                  <a:uLnTx/>
                  <a:uFillTx/>
                  <a:cs typeface="+mn-ea"/>
                  <a:sym typeface="+mn-lt"/>
                </a:rPr>
                <a:t>Manual process</a:t>
              </a:r>
              <a:endParaRPr kumimoji="0" lang="en-US" altLang="zh-CN" sz="2800" b="1" i="0" u="none" strike="noStrike" kern="1200" cap="none" spc="0" normalizeH="0" baseline="0" noProof="0" dirty="0">
                <a:ln>
                  <a:noFill/>
                </a:ln>
                <a:effectLst/>
                <a:uLnTx/>
                <a:uFillTx/>
                <a:cs typeface="+mn-ea"/>
                <a:sym typeface="+mn-lt"/>
              </a:endParaRPr>
            </a:p>
          </p:txBody>
        </p:sp>
        <p:sp>
          <p:nvSpPr>
            <p:cNvPr id="61" name="10"/>
            <p:cNvSpPr/>
            <p:nvPr/>
          </p:nvSpPr>
          <p:spPr>
            <a:xfrm>
              <a:off x="2115437" y="2627135"/>
              <a:ext cx="2585087" cy="553085"/>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tx1">
                      <a:lumMod val="50000"/>
                      <a:lumOff val="50000"/>
                    </a:schemeClr>
                  </a:solidFill>
                  <a:effectLst/>
                  <a:uLnTx/>
                  <a:uFillTx/>
                  <a:cs typeface="+mn-ea"/>
                  <a:sym typeface="+mn-lt"/>
                </a:rPr>
                <a:t>as below</a:t>
              </a:r>
              <a:endParaRPr kumimoji="0" lang="en-US" altLang="zh-CN" sz="2000" b="0" i="0" u="none" strike="noStrike" kern="1200" cap="none" spc="0" normalizeH="0" baseline="0" noProof="0" dirty="0">
                <a:ln>
                  <a:noFill/>
                </a:ln>
                <a:solidFill>
                  <a:schemeClr val="tx1">
                    <a:lumMod val="50000"/>
                    <a:lumOff val="50000"/>
                  </a:schemeClr>
                </a:solidFill>
                <a:effectLst/>
                <a:uLnTx/>
                <a:uFillTx/>
                <a:cs typeface="+mn-ea"/>
                <a:sym typeface="+mn-lt"/>
              </a:endParaRPr>
            </a:p>
          </p:txBody>
        </p:sp>
      </p:grpSp>
      <p:sp>
        <p:nvSpPr>
          <p:cNvPr id="62" name="1"/>
          <p:cNvSpPr/>
          <p:nvPr>
            <p:custDataLst>
              <p:tags r:id="rId8"/>
            </p:custDataLst>
          </p:nvPr>
        </p:nvSpPr>
        <p:spPr bwMode="auto">
          <a:xfrm>
            <a:off x="3921821" y="1115505"/>
            <a:ext cx="1638923" cy="511151"/>
          </a:xfrm>
          <a:prstGeom prst="roundRect">
            <a:avLst/>
          </a:prstGeom>
          <a:solidFill>
            <a:schemeClr val="accent2"/>
          </a:solidFill>
          <a:ln w="12700" cap="flat" cmpd="sng" algn="ctr">
            <a:noFill/>
            <a:prstDash val="solid"/>
            <a:miter lim="800000"/>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00" b="1" i="0" u="none" strike="noStrike" kern="0" cap="none" spc="0" normalizeH="0" baseline="0" noProof="0" dirty="0">
              <a:ln>
                <a:noFill/>
              </a:ln>
              <a:solidFill>
                <a:prstClr val="white"/>
              </a:solidFill>
              <a:effectLst/>
              <a:uLnTx/>
              <a:uFillTx/>
              <a:cs typeface="+mn-ea"/>
              <a:sym typeface="+mn-lt"/>
            </a:endParaRPr>
          </a:p>
        </p:txBody>
      </p:sp>
      <p:grpSp>
        <p:nvGrpSpPr>
          <p:cNvPr id="63" name="1"/>
          <p:cNvGrpSpPr/>
          <p:nvPr>
            <p:custDataLst>
              <p:tags r:id="rId9"/>
            </p:custDataLst>
          </p:nvPr>
        </p:nvGrpSpPr>
        <p:grpSpPr>
          <a:xfrm>
            <a:off x="4612558" y="1832141"/>
            <a:ext cx="257449" cy="257449"/>
            <a:chOff x="3502353" y="2800350"/>
            <a:chExt cx="201492" cy="201492"/>
          </a:xfrm>
          <a:solidFill>
            <a:srgbClr val="4472C4"/>
          </a:solidFill>
        </p:grpSpPr>
        <p:sp>
          <p:nvSpPr>
            <p:cNvPr id="64" name="Oval 54"/>
            <p:cNvSpPr/>
            <p:nvPr/>
          </p:nvSpPr>
          <p:spPr>
            <a:xfrm>
              <a:off x="3502353" y="2800350"/>
              <a:ext cx="201492" cy="201492"/>
            </a:xfrm>
            <a:prstGeom prst="ellipse">
              <a:avLst/>
            </a:prstGeom>
            <a:solidFill>
              <a:schemeClr val="accent2"/>
            </a:solidFill>
            <a:ln w="19050">
              <a:solidFill>
                <a:schemeClr val="accent2"/>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sp>
          <p:nvSpPr>
            <p:cNvPr id="65" name="Oval 55"/>
            <p:cNvSpPr/>
            <p:nvPr/>
          </p:nvSpPr>
          <p:spPr>
            <a:xfrm>
              <a:off x="3562295" y="2860291"/>
              <a:ext cx="81608" cy="81608"/>
            </a:xfrm>
            <a:prstGeom prst="ellipse">
              <a:avLst/>
            </a:prstGeom>
            <a:solidFill>
              <a:sysClr val="window" lastClr="FFFFFF"/>
            </a:solidFill>
            <a:ln w="19050">
              <a:solidFill>
                <a:schemeClr val="accent2"/>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grpSp>
      <p:grpSp>
        <p:nvGrpSpPr>
          <p:cNvPr id="69" name="组合 68"/>
          <p:cNvGrpSpPr/>
          <p:nvPr/>
        </p:nvGrpSpPr>
        <p:grpSpPr>
          <a:xfrm>
            <a:off x="3227035" y="2419020"/>
            <a:ext cx="3027680" cy="1198245"/>
            <a:chOff x="1893733" y="1999051"/>
            <a:chExt cx="3027680" cy="1198245"/>
          </a:xfrm>
        </p:grpSpPr>
        <p:sp>
          <p:nvSpPr>
            <p:cNvPr id="70" name="9"/>
            <p:cNvSpPr/>
            <p:nvPr/>
          </p:nvSpPr>
          <p:spPr>
            <a:xfrm>
              <a:off x="1893733" y="1999051"/>
              <a:ext cx="3027680" cy="521970"/>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effectLst/>
                  <a:uLnTx/>
                  <a:uFillTx/>
                  <a:cs typeface="+mn-ea"/>
                  <a:sym typeface="+mn-lt"/>
                </a:rPr>
                <a:t>Current </a:t>
              </a:r>
              <a:r>
                <a:rPr kumimoji="0" lang="en-US" altLang="zh-CN" sz="2800" b="1" i="0" u="none" strike="noStrike" kern="1200" cap="none" spc="0" normalizeH="0" baseline="0" noProof="0" dirty="0">
                  <a:ln>
                    <a:noFill/>
                  </a:ln>
                  <a:effectLst/>
                  <a:uLnTx/>
                  <a:uFillTx/>
                  <a:cs typeface="+mn-ea"/>
                  <a:sym typeface="+mn-lt"/>
                </a:rPr>
                <a:t>situation</a:t>
              </a:r>
              <a:endParaRPr kumimoji="0" lang="en-US" altLang="zh-CN" sz="2800" b="1" i="0" u="none" strike="noStrike" kern="1200" cap="none" spc="0" normalizeH="0" baseline="0" noProof="0" dirty="0">
                <a:ln>
                  <a:noFill/>
                </a:ln>
                <a:effectLst/>
                <a:uLnTx/>
                <a:uFillTx/>
                <a:cs typeface="+mn-ea"/>
                <a:sym typeface="+mn-lt"/>
              </a:endParaRPr>
            </a:p>
          </p:txBody>
        </p:sp>
        <p:sp>
          <p:nvSpPr>
            <p:cNvPr id="71" name="10"/>
            <p:cNvSpPr/>
            <p:nvPr/>
          </p:nvSpPr>
          <p:spPr>
            <a:xfrm>
              <a:off x="2058833" y="2460061"/>
              <a:ext cx="2697480" cy="737235"/>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Rely on Excel,WhatsApp,</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manual processing on paper</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p:txBody>
        </p:sp>
      </p:grpSp>
      <p:sp>
        <p:nvSpPr>
          <p:cNvPr id="72" name="1"/>
          <p:cNvSpPr/>
          <p:nvPr>
            <p:custDataLst>
              <p:tags r:id="rId10"/>
            </p:custDataLst>
          </p:nvPr>
        </p:nvSpPr>
        <p:spPr bwMode="auto">
          <a:xfrm>
            <a:off x="6463615" y="1115505"/>
            <a:ext cx="1638923" cy="511151"/>
          </a:xfrm>
          <a:prstGeom prst="roundRect">
            <a:avLst/>
          </a:prstGeom>
          <a:solidFill>
            <a:schemeClr val="accent1"/>
          </a:solidFill>
          <a:ln w="12700" cap="flat" cmpd="sng" algn="ctr">
            <a:noFill/>
            <a:prstDash val="solid"/>
            <a:miter lim="800000"/>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800" b="1" i="0" u="none" strike="noStrike" kern="0" cap="none" spc="0" normalizeH="0" baseline="0" noProof="0" dirty="0">
              <a:ln>
                <a:noFill/>
              </a:ln>
              <a:solidFill>
                <a:prstClr val="white"/>
              </a:solidFill>
              <a:effectLst/>
              <a:uLnTx/>
              <a:uFillTx/>
              <a:cs typeface="+mn-ea"/>
              <a:sym typeface="+mn-lt"/>
            </a:endParaRPr>
          </a:p>
        </p:txBody>
      </p:sp>
      <p:grpSp>
        <p:nvGrpSpPr>
          <p:cNvPr id="73" name="1"/>
          <p:cNvGrpSpPr/>
          <p:nvPr>
            <p:custDataLst>
              <p:tags r:id="rId11"/>
            </p:custDataLst>
          </p:nvPr>
        </p:nvGrpSpPr>
        <p:grpSpPr>
          <a:xfrm>
            <a:off x="7154352" y="1832141"/>
            <a:ext cx="257449" cy="257449"/>
            <a:chOff x="7409029" y="2800350"/>
            <a:chExt cx="201492" cy="201492"/>
          </a:xfrm>
          <a:solidFill>
            <a:srgbClr val="4472C4"/>
          </a:solidFill>
        </p:grpSpPr>
        <p:sp>
          <p:nvSpPr>
            <p:cNvPr id="74" name="Oval 60"/>
            <p:cNvSpPr/>
            <p:nvPr/>
          </p:nvSpPr>
          <p:spPr>
            <a:xfrm>
              <a:off x="7409029" y="2800350"/>
              <a:ext cx="201492" cy="201492"/>
            </a:xfrm>
            <a:prstGeom prst="ellipse">
              <a:avLst/>
            </a:prstGeom>
            <a:solidFill>
              <a:schemeClr val="accent1"/>
            </a:solidFill>
            <a:ln w="19050">
              <a:solidFill>
                <a:schemeClr val="accent1"/>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sp>
          <p:nvSpPr>
            <p:cNvPr id="75" name="Oval 61"/>
            <p:cNvSpPr/>
            <p:nvPr/>
          </p:nvSpPr>
          <p:spPr>
            <a:xfrm>
              <a:off x="7468971" y="2860291"/>
              <a:ext cx="81608" cy="81608"/>
            </a:xfrm>
            <a:prstGeom prst="ellipse">
              <a:avLst/>
            </a:prstGeom>
            <a:solidFill>
              <a:sysClr val="window" lastClr="FFFFFF"/>
            </a:solidFill>
            <a:ln w="19050">
              <a:solidFill>
                <a:schemeClr val="accent1"/>
              </a:solidFill>
              <a:round/>
            </a:ln>
          </p:spPr>
          <p:txBody>
            <a:bodyPr vert="horz" wrap="none" lIns="91440" tIns="45720" rIns="91440" bIns="45720" anchor="ctr" anchorCtr="1"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prstClr val="white"/>
                </a:solidFill>
                <a:effectLst/>
                <a:uLnTx/>
                <a:uFillTx/>
                <a:cs typeface="+mn-ea"/>
                <a:sym typeface="+mn-lt"/>
              </a:endParaRPr>
            </a:p>
          </p:txBody>
        </p:sp>
      </p:grpSp>
      <p:grpSp>
        <p:nvGrpSpPr>
          <p:cNvPr id="79" name="组合 78"/>
          <p:cNvGrpSpPr/>
          <p:nvPr/>
        </p:nvGrpSpPr>
        <p:grpSpPr>
          <a:xfrm>
            <a:off x="5963774" y="2295195"/>
            <a:ext cx="2611935" cy="1804104"/>
            <a:chOff x="2088678" y="2039056"/>
            <a:chExt cx="2611935" cy="1804104"/>
          </a:xfrm>
        </p:grpSpPr>
        <p:sp>
          <p:nvSpPr>
            <p:cNvPr id="80" name="9"/>
            <p:cNvSpPr/>
            <p:nvPr/>
          </p:nvSpPr>
          <p:spPr>
            <a:xfrm>
              <a:off x="2088678" y="2039056"/>
              <a:ext cx="2611935" cy="521970"/>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effectLst/>
                  <a:uLnTx/>
                  <a:uFillTx/>
                  <a:cs typeface="+mn-ea"/>
                  <a:sym typeface="+mn-lt"/>
                </a:rPr>
                <a:t>Core issues</a:t>
              </a:r>
              <a:endParaRPr kumimoji="0" lang="en-US" altLang="zh-CN" sz="2800" b="1" i="0" u="none" strike="noStrike" kern="1200" cap="none" spc="0" normalizeH="0" baseline="0" noProof="0" dirty="0">
                <a:ln>
                  <a:noFill/>
                </a:ln>
                <a:effectLst/>
                <a:uLnTx/>
                <a:uFillTx/>
                <a:cs typeface="+mn-ea"/>
                <a:sym typeface="+mn-lt"/>
              </a:endParaRPr>
            </a:p>
          </p:txBody>
        </p:sp>
        <p:sp>
          <p:nvSpPr>
            <p:cNvPr id="81" name="10"/>
            <p:cNvSpPr/>
            <p:nvPr/>
          </p:nvSpPr>
          <p:spPr>
            <a:xfrm>
              <a:off x="2115437" y="2459495"/>
              <a:ext cx="2585087" cy="1383665"/>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1.time-consuming</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2.making mistakes easily</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3.lack of approval records</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a:p>
              <a:pPr marL="0" marR="0" lvl="0" indent="0" algn="ctr" defTabSz="914400" rtl="0" eaLnBrk="1" fontAlgn="auto" latinLnBrk="1"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rPr>
                <a:t>4.no budgets for ERP</a:t>
              </a:r>
              <a:endParaRPr kumimoji="0" lang="en-US" altLang="zh-CN" sz="1400" b="0" i="0" u="none" strike="noStrike" kern="1200" cap="none" spc="0" normalizeH="0" baseline="0" noProof="0" dirty="0">
                <a:ln>
                  <a:noFill/>
                </a:ln>
                <a:solidFill>
                  <a:schemeClr val="tx1">
                    <a:lumMod val="50000"/>
                    <a:lumOff val="50000"/>
                  </a:schemeClr>
                </a:solidFill>
                <a:effectLst/>
                <a:uLnTx/>
                <a:uFillTx/>
                <a:cs typeface="+mn-ea"/>
                <a:sym typeface="+mn-lt"/>
              </a:endParaRPr>
            </a:p>
          </p:txBody>
        </p:sp>
      </p:grpSp>
      <p:pic>
        <p:nvPicPr>
          <p:cNvPr id="2" name="图片 1" descr="IMG_1169"/>
          <p:cNvPicPr>
            <a:picLocks noChangeAspect="1"/>
          </p:cNvPicPr>
          <p:nvPr/>
        </p:nvPicPr>
        <p:blipFill>
          <a:blip r:embed="rId12">
            <a:clrChange>
              <a:clrFrom>
                <a:srgbClr val="F9F7EA">
                  <a:alpha val="100000"/>
                </a:srgbClr>
              </a:clrFrom>
              <a:clrTo>
                <a:srgbClr val="F9F7EA">
                  <a:alpha val="100000"/>
                  <a:alpha val="0"/>
                </a:srgbClr>
              </a:clrTo>
            </a:clrChange>
          </a:blip>
          <a:stretch>
            <a:fillRect/>
          </a:stretch>
        </p:blipFill>
        <p:spPr>
          <a:xfrm>
            <a:off x="205105" y="4015740"/>
            <a:ext cx="11744325" cy="2251075"/>
          </a:xfrm>
          <a:prstGeom prst="rect">
            <a:avLst/>
          </a:prstGeom>
        </p:spPr>
      </p:pic>
    </p:spTree>
    <p:custDataLst>
      <p:tags r:id="rId1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五边形 18"/>
          <p:cNvSpPr/>
          <p:nvPr/>
        </p:nvSpPr>
        <p:spPr>
          <a:xfrm rot="5400000">
            <a:off x="4363438" y="-162964"/>
            <a:ext cx="3465124" cy="3791052"/>
          </a:xfrm>
          <a:prstGeom prst="homePlate">
            <a:avLst>
              <a:gd name="adj" fmla="val 522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菱形 17"/>
          <p:cNvSpPr/>
          <p:nvPr/>
        </p:nvSpPr>
        <p:spPr>
          <a:xfrm>
            <a:off x="4978400" y="698500"/>
            <a:ext cx="2235200" cy="22352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solidFill>
                  <a:srgbClr val="2F5597"/>
                </a:solidFill>
                <a:latin typeface="Impact" panose="020B0806030902050204" pitchFamily="34" charset="0"/>
                <a:cs typeface="+mn-ea"/>
                <a:sym typeface="+mn-lt"/>
              </a:rPr>
              <a:t>02</a:t>
            </a:r>
            <a:endParaRPr lang="en-US" altLang="zh-CN" sz="5400" dirty="0">
              <a:solidFill>
                <a:srgbClr val="2F5597"/>
              </a:solidFill>
              <a:latin typeface="Impact" panose="020B0806030902050204" pitchFamily="34" charset="0"/>
              <a:cs typeface="+mn-ea"/>
              <a:sym typeface="+mn-lt"/>
            </a:endParaRPr>
          </a:p>
        </p:txBody>
      </p:sp>
      <p:grpSp>
        <p:nvGrpSpPr>
          <p:cNvPr id="22" name="组合 21"/>
          <p:cNvGrpSpPr/>
          <p:nvPr/>
        </p:nvGrpSpPr>
        <p:grpSpPr>
          <a:xfrm flipH="1">
            <a:off x="4409973" y="5023576"/>
            <a:ext cx="3372055" cy="89175"/>
            <a:chOff x="6741212" y="387738"/>
            <a:chExt cx="5092048" cy="172787"/>
          </a:xfrm>
          <a:solidFill>
            <a:schemeClr val="accent1"/>
          </a:solidFill>
        </p:grpSpPr>
        <p:sp>
          <p:nvSpPr>
            <p:cNvPr id="23" name="平行四边形 22"/>
            <p:cNvSpPr/>
            <p:nvPr/>
          </p:nvSpPr>
          <p:spPr>
            <a:xfrm flipH="1">
              <a:off x="6741212"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平行四边形 23"/>
            <p:cNvSpPr/>
            <p:nvPr/>
          </p:nvSpPr>
          <p:spPr>
            <a:xfrm flipH="1">
              <a:off x="8128699"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平行四边形 24"/>
            <p:cNvSpPr/>
            <p:nvPr/>
          </p:nvSpPr>
          <p:spPr>
            <a:xfrm flipH="1">
              <a:off x="9516186"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平行四边形 25"/>
            <p:cNvSpPr/>
            <p:nvPr/>
          </p:nvSpPr>
          <p:spPr>
            <a:xfrm flipH="1">
              <a:off x="10903673"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文本框 26"/>
          <p:cNvSpPr txBox="1"/>
          <p:nvPr/>
        </p:nvSpPr>
        <p:spPr>
          <a:xfrm>
            <a:off x="3098514" y="3737977"/>
            <a:ext cx="5994972" cy="1106805"/>
          </a:xfrm>
          <a:prstGeom prst="rect">
            <a:avLst/>
          </a:prstGeom>
          <a:noFill/>
        </p:spPr>
        <p:txBody>
          <a:bodyPr wrap="square" rtlCol="0">
            <a:spAutoFit/>
            <a:scene3d>
              <a:camera prst="orthographicFront"/>
              <a:lightRig rig="threePt" dir="t"/>
            </a:scene3d>
            <a:sp3d contourW="12700"/>
          </a:bodyPr>
          <a:lstStyle>
            <a:defPPr>
              <a:defRPr lang="zh-CN"/>
            </a:defPPr>
            <a:lvl1pPr marR="0" lvl="0" indent="0" algn="ctr" fontAlgn="auto">
              <a:lnSpc>
                <a:spcPct val="100000"/>
              </a:lnSpc>
              <a:spcBef>
                <a:spcPts val="0"/>
              </a:spcBef>
              <a:spcAft>
                <a:spcPts val="0"/>
              </a:spcAft>
              <a:buClrTx/>
              <a:buSzTx/>
              <a:buFontTx/>
              <a:buNone/>
              <a:defRPr kumimoji="0" sz="6600" b="0" i="0" u="none" strike="noStrike" cap="none" spc="0" normalizeH="0" baseline="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defRPr>
            </a:lvl1pPr>
          </a:lstStyle>
          <a:p>
            <a:r>
              <a:rPr lang="en-US" altLang="zh-CN" dirty="0">
                <a:sym typeface="+mn-lt"/>
              </a:rPr>
              <a:t>Overall </a:t>
            </a:r>
            <a:r>
              <a:rPr lang="en-US" altLang="zh-CN" dirty="0">
                <a:sym typeface="+mn-lt"/>
              </a:rPr>
              <a:t>process</a:t>
            </a:r>
            <a:endParaRPr lang="en-US" altLang="zh-CN" dirty="0">
              <a:sym typeface="+mn-lt"/>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922092" y="1420337"/>
            <a:ext cx="10591800" cy="3901710"/>
            <a:chOff x="838835" y="1378487"/>
            <a:chExt cx="10591800" cy="3901710"/>
          </a:xfrm>
        </p:grpSpPr>
        <p:grpSp>
          <p:nvGrpSpPr>
            <p:cNvPr id="47" name="组合 46"/>
            <p:cNvGrpSpPr/>
            <p:nvPr/>
          </p:nvGrpSpPr>
          <p:grpSpPr>
            <a:xfrm>
              <a:off x="914401" y="4480097"/>
              <a:ext cx="2722865" cy="800100"/>
              <a:chOff x="838835" y="4577715"/>
              <a:chExt cx="2722865" cy="800100"/>
            </a:xfrm>
          </p:grpSpPr>
          <p:grpSp>
            <p:nvGrpSpPr>
              <p:cNvPr id="51" name="组合 50"/>
              <p:cNvGrpSpPr/>
              <p:nvPr/>
            </p:nvGrpSpPr>
            <p:grpSpPr>
              <a:xfrm>
                <a:off x="838835" y="4577715"/>
                <a:ext cx="800100" cy="800100"/>
                <a:chOff x="838835" y="4537710"/>
                <a:chExt cx="800100" cy="800100"/>
              </a:xfrm>
            </p:grpSpPr>
            <p:sp>
              <p:nvSpPr>
                <p:cNvPr id="58" name="椭圆 57"/>
                <p:cNvSpPr/>
                <p:nvPr/>
              </p:nvSpPr>
              <p:spPr>
                <a:xfrm>
                  <a:off x="838835" y="4537710"/>
                  <a:ext cx="800100" cy="800100"/>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stack-of-sheets_1370"/>
                <p:cNvSpPr>
                  <a:spLocks noChangeAspect="1"/>
                </p:cNvSpPr>
                <p:nvPr/>
              </p:nvSpPr>
              <p:spPr bwMode="auto">
                <a:xfrm>
                  <a:off x="997585" y="4735959"/>
                  <a:ext cx="482600" cy="403601"/>
                </a:xfrm>
                <a:custGeom>
                  <a:avLst/>
                  <a:gdLst>
                    <a:gd name="T0" fmla="*/ 347 w 351"/>
                    <a:gd name="T1" fmla="*/ 209 h 294"/>
                    <a:gd name="T2" fmla="*/ 341 w 351"/>
                    <a:gd name="T3" fmla="*/ 226 h 294"/>
                    <a:gd name="T4" fmla="*/ 194 w 351"/>
                    <a:gd name="T5" fmla="*/ 293 h 294"/>
                    <a:gd name="T6" fmla="*/ 189 w 351"/>
                    <a:gd name="T7" fmla="*/ 294 h 294"/>
                    <a:gd name="T8" fmla="*/ 185 w 351"/>
                    <a:gd name="T9" fmla="*/ 294 h 294"/>
                    <a:gd name="T10" fmla="*/ 11 w 351"/>
                    <a:gd name="T11" fmla="*/ 240 h 294"/>
                    <a:gd name="T12" fmla="*/ 3 w 351"/>
                    <a:gd name="T13" fmla="*/ 224 h 294"/>
                    <a:gd name="T14" fmla="*/ 19 w 351"/>
                    <a:gd name="T15" fmla="*/ 215 h 294"/>
                    <a:gd name="T16" fmla="*/ 188 w 351"/>
                    <a:gd name="T17" fmla="*/ 267 h 294"/>
                    <a:gd name="T18" fmla="*/ 330 w 351"/>
                    <a:gd name="T19" fmla="*/ 202 h 294"/>
                    <a:gd name="T20" fmla="*/ 347 w 351"/>
                    <a:gd name="T21" fmla="*/ 209 h 294"/>
                    <a:gd name="T22" fmla="*/ 188 w 351"/>
                    <a:gd name="T23" fmla="*/ 213 h 294"/>
                    <a:gd name="T24" fmla="*/ 19 w 351"/>
                    <a:gd name="T25" fmla="*/ 161 h 294"/>
                    <a:gd name="T26" fmla="*/ 3 w 351"/>
                    <a:gd name="T27" fmla="*/ 170 h 294"/>
                    <a:gd name="T28" fmla="*/ 11 w 351"/>
                    <a:gd name="T29" fmla="*/ 187 h 294"/>
                    <a:gd name="T30" fmla="*/ 185 w 351"/>
                    <a:gd name="T31" fmla="*/ 240 h 294"/>
                    <a:gd name="T32" fmla="*/ 189 w 351"/>
                    <a:gd name="T33" fmla="*/ 241 h 294"/>
                    <a:gd name="T34" fmla="*/ 194 w 351"/>
                    <a:gd name="T35" fmla="*/ 240 h 294"/>
                    <a:gd name="T36" fmla="*/ 341 w 351"/>
                    <a:gd name="T37" fmla="*/ 173 h 294"/>
                    <a:gd name="T38" fmla="*/ 347 w 351"/>
                    <a:gd name="T39" fmla="*/ 155 h 294"/>
                    <a:gd name="T40" fmla="*/ 330 w 351"/>
                    <a:gd name="T41" fmla="*/ 149 h 294"/>
                    <a:gd name="T42" fmla="*/ 188 w 351"/>
                    <a:gd name="T43" fmla="*/ 213 h 294"/>
                    <a:gd name="T44" fmla="*/ 2 w 351"/>
                    <a:gd name="T45" fmla="*/ 121 h 294"/>
                    <a:gd name="T46" fmla="*/ 10 w 351"/>
                    <a:gd name="T47" fmla="*/ 109 h 294"/>
                    <a:gd name="T48" fmla="*/ 108 w 351"/>
                    <a:gd name="T49" fmla="*/ 67 h 294"/>
                    <a:gd name="T50" fmla="*/ 136 w 351"/>
                    <a:gd name="T51" fmla="*/ 14 h 294"/>
                    <a:gd name="T52" fmla="*/ 141 w 351"/>
                    <a:gd name="T53" fmla="*/ 3 h 294"/>
                    <a:gd name="T54" fmla="*/ 152 w 351"/>
                    <a:gd name="T55" fmla="*/ 1 h 294"/>
                    <a:gd name="T56" fmla="*/ 325 w 351"/>
                    <a:gd name="T57" fmla="*/ 43 h 294"/>
                    <a:gd name="T58" fmla="*/ 335 w 351"/>
                    <a:gd name="T59" fmla="*/ 56 h 294"/>
                    <a:gd name="T60" fmla="*/ 335 w 351"/>
                    <a:gd name="T61" fmla="*/ 58 h 294"/>
                    <a:gd name="T62" fmla="*/ 287 w 351"/>
                    <a:gd name="T63" fmla="*/ 144 h 294"/>
                    <a:gd name="T64" fmla="*/ 194 w 351"/>
                    <a:gd name="T65" fmla="*/ 186 h 294"/>
                    <a:gd name="T66" fmla="*/ 189 w 351"/>
                    <a:gd name="T67" fmla="*/ 187 h 294"/>
                    <a:gd name="T68" fmla="*/ 185 w 351"/>
                    <a:gd name="T69" fmla="*/ 187 h 294"/>
                    <a:gd name="T70" fmla="*/ 11 w 351"/>
                    <a:gd name="T71" fmla="*/ 134 h 294"/>
                    <a:gd name="T72" fmla="*/ 2 w 351"/>
                    <a:gd name="T73" fmla="*/ 121 h 294"/>
                    <a:gd name="T74" fmla="*/ 54 w 351"/>
                    <a:gd name="T75" fmla="*/ 119 h 294"/>
                    <a:gd name="T76" fmla="*/ 188 w 351"/>
                    <a:gd name="T77" fmla="*/ 160 h 294"/>
                    <a:gd name="T78" fmla="*/ 276 w 351"/>
                    <a:gd name="T79" fmla="*/ 120 h 294"/>
                    <a:gd name="T80" fmla="*/ 308 w 351"/>
                    <a:gd name="T81" fmla="*/ 67 h 294"/>
                    <a:gd name="T82" fmla="*/ 162 w 351"/>
                    <a:gd name="T83" fmla="*/ 31 h 294"/>
                    <a:gd name="T84" fmla="*/ 118 w 351"/>
                    <a:gd name="T85" fmla="*/ 92 h 294"/>
                    <a:gd name="T86" fmla="*/ 54 w 351"/>
                    <a:gd name="T87" fmla="*/ 119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1" h="294">
                      <a:moveTo>
                        <a:pt x="347" y="209"/>
                      </a:moveTo>
                      <a:cubicBezTo>
                        <a:pt x="351" y="215"/>
                        <a:pt x="348" y="223"/>
                        <a:pt x="341" y="226"/>
                      </a:cubicBezTo>
                      <a:lnTo>
                        <a:pt x="194" y="293"/>
                      </a:lnTo>
                      <a:cubicBezTo>
                        <a:pt x="192" y="294"/>
                        <a:pt x="191" y="294"/>
                        <a:pt x="189" y="294"/>
                      </a:cubicBezTo>
                      <a:cubicBezTo>
                        <a:pt x="187" y="294"/>
                        <a:pt x="186" y="294"/>
                        <a:pt x="185" y="294"/>
                      </a:cubicBezTo>
                      <a:lnTo>
                        <a:pt x="11" y="240"/>
                      </a:lnTo>
                      <a:cubicBezTo>
                        <a:pt x="4" y="238"/>
                        <a:pt x="0" y="231"/>
                        <a:pt x="3" y="224"/>
                      </a:cubicBezTo>
                      <a:cubicBezTo>
                        <a:pt x="5" y="217"/>
                        <a:pt x="12" y="213"/>
                        <a:pt x="19" y="215"/>
                      </a:cubicBezTo>
                      <a:lnTo>
                        <a:pt x="188" y="267"/>
                      </a:lnTo>
                      <a:lnTo>
                        <a:pt x="330" y="202"/>
                      </a:lnTo>
                      <a:cubicBezTo>
                        <a:pt x="337" y="199"/>
                        <a:pt x="344" y="202"/>
                        <a:pt x="347" y="209"/>
                      </a:cubicBezTo>
                      <a:close/>
                      <a:moveTo>
                        <a:pt x="188" y="213"/>
                      </a:moveTo>
                      <a:lnTo>
                        <a:pt x="19" y="161"/>
                      </a:lnTo>
                      <a:cubicBezTo>
                        <a:pt x="12" y="159"/>
                        <a:pt x="5" y="163"/>
                        <a:pt x="3" y="170"/>
                      </a:cubicBezTo>
                      <a:cubicBezTo>
                        <a:pt x="0" y="177"/>
                        <a:pt x="4" y="185"/>
                        <a:pt x="11" y="187"/>
                      </a:cubicBezTo>
                      <a:lnTo>
                        <a:pt x="185" y="240"/>
                      </a:lnTo>
                      <a:cubicBezTo>
                        <a:pt x="186" y="241"/>
                        <a:pt x="187" y="241"/>
                        <a:pt x="189" y="241"/>
                      </a:cubicBezTo>
                      <a:cubicBezTo>
                        <a:pt x="191" y="241"/>
                        <a:pt x="192" y="240"/>
                        <a:pt x="194" y="240"/>
                      </a:cubicBezTo>
                      <a:lnTo>
                        <a:pt x="341" y="173"/>
                      </a:lnTo>
                      <a:cubicBezTo>
                        <a:pt x="348" y="170"/>
                        <a:pt x="351" y="162"/>
                        <a:pt x="347" y="155"/>
                      </a:cubicBezTo>
                      <a:cubicBezTo>
                        <a:pt x="344" y="149"/>
                        <a:pt x="337" y="146"/>
                        <a:pt x="330" y="149"/>
                      </a:cubicBezTo>
                      <a:lnTo>
                        <a:pt x="188" y="213"/>
                      </a:lnTo>
                      <a:close/>
                      <a:moveTo>
                        <a:pt x="2" y="121"/>
                      </a:moveTo>
                      <a:cubicBezTo>
                        <a:pt x="2" y="116"/>
                        <a:pt x="5" y="111"/>
                        <a:pt x="10" y="109"/>
                      </a:cubicBezTo>
                      <a:lnTo>
                        <a:pt x="108" y="67"/>
                      </a:lnTo>
                      <a:cubicBezTo>
                        <a:pt x="127" y="59"/>
                        <a:pt x="136" y="49"/>
                        <a:pt x="136" y="14"/>
                      </a:cubicBezTo>
                      <a:cubicBezTo>
                        <a:pt x="136" y="10"/>
                        <a:pt x="138" y="6"/>
                        <a:pt x="141" y="3"/>
                      </a:cubicBezTo>
                      <a:cubicBezTo>
                        <a:pt x="144" y="1"/>
                        <a:pt x="148" y="0"/>
                        <a:pt x="152" y="1"/>
                      </a:cubicBezTo>
                      <a:lnTo>
                        <a:pt x="325" y="43"/>
                      </a:lnTo>
                      <a:cubicBezTo>
                        <a:pt x="331" y="45"/>
                        <a:pt x="335" y="50"/>
                        <a:pt x="335" y="56"/>
                      </a:cubicBezTo>
                      <a:lnTo>
                        <a:pt x="335" y="58"/>
                      </a:lnTo>
                      <a:cubicBezTo>
                        <a:pt x="335" y="98"/>
                        <a:pt x="335" y="124"/>
                        <a:pt x="287" y="144"/>
                      </a:cubicBezTo>
                      <a:cubicBezTo>
                        <a:pt x="254" y="158"/>
                        <a:pt x="195" y="186"/>
                        <a:pt x="194" y="186"/>
                      </a:cubicBezTo>
                      <a:cubicBezTo>
                        <a:pt x="193" y="187"/>
                        <a:pt x="191" y="187"/>
                        <a:pt x="189" y="187"/>
                      </a:cubicBezTo>
                      <a:cubicBezTo>
                        <a:pt x="187" y="187"/>
                        <a:pt x="186" y="187"/>
                        <a:pt x="185" y="187"/>
                      </a:cubicBezTo>
                      <a:lnTo>
                        <a:pt x="11" y="134"/>
                      </a:lnTo>
                      <a:cubicBezTo>
                        <a:pt x="6" y="132"/>
                        <a:pt x="2" y="127"/>
                        <a:pt x="2" y="121"/>
                      </a:cubicBezTo>
                      <a:close/>
                      <a:moveTo>
                        <a:pt x="54" y="119"/>
                      </a:moveTo>
                      <a:lnTo>
                        <a:pt x="188" y="160"/>
                      </a:lnTo>
                      <a:cubicBezTo>
                        <a:pt x="202" y="153"/>
                        <a:pt x="248" y="131"/>
                        <a:pt x="276" y="120"/>
                      </a:cubicBezTo>
                      <a:cubicBezTo>
                        <a:pt x="306" y="107"/>
                        <a:pt x="308" y="98"/>
                        <a:pt x="308" y="67"/>
                      </a:cubicBezTo>
                      <a:lnTo>
                        <a:pt x="162" y="31"/>
                      </a:lnTo>
                      <a:cubicBezTo>
                        <a:pt x="159" y="58"/>
                        <a:pt x="149" y="79"/>
                        <a:pt x="118" y="92"/>
                      </a:cubicBezTo>
                      <a:lnTo>
                        <a:pt x="54" y="119"/>
                      </a:lnTo>
                      <a:close/>
                    </a:path>
                  </a:pathLst>
                </a:custGeom>
                <a:solidFill>
                  <a:schemeClr val="accent1"/>
                </a:solidFill>
                <a:ln>
                  <a:noFill/>
                </a:ln>
              </p:spPr>
              <p:txBody>
                <a:bodyPr/>
                <a:lstStyle/>
                <a:p>
                  <a:endParaRPr lang="zh-CN" altLang="en-US" dirty="0">
                    <a:cs typeface="+mn-ea"/>
                    <a:sym typeface="+mn-lt"/>
                  </a:endParaRPr>
                </a:p>
              </p:txBody>
            </p:sp>
          </p:grpSp>
          <p:grpSp>
            <p:nvGrpSpPr>
              <p:cNvPr id="52" name="Group 81"/>
              <p:cNvGrpSpPr/>
              <p:nvPr/>
            </p:nvGrpSpPr>
            <p:grpSpPr>
              <a:xfrm>
                <a:off x="2761600" y="4577715"/>
                <a:ext cx="800100" cy="800100"/>
                <a:chOff x="838835" y="4537710"/>
                <a:chExt cx="800100" cy="800100"/>
              </a:xfrm>
            </p:grpSpPr>
            <p:sp>
              <p:nvSpPr>
                <p:cNvPr id="56" name="椭圆 55"/>
                <p:cNvSpPr/>
                <p:nvPr/>
              </p:nvSpPr>
              <p:spPr>
                <a:xfrm>
                  <a:off x="838835" y="4537710"/>
                  <a:ext cx="800100" cy="800100"/>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stack-of-sheets_1370"/>
                <p:cNvSpPr>
                  <a:spLocks noChangeAspect="1"/>
                </p:cNvSpPr>
                <p:nvPr/>
              </p:nvSpPr>
              <p:spPr bwMode="auto">
                <a:xfrm>
                  <a:off x="1055224" y="4696459"/>
                  <a:ext cx="367320" cy="482600"/>
                </a:xfrm>
                <a:custGeom>
                  <a:avLst/>
                  <a:gdLst>
                    <a:gd name="connsiteX0" fmla="*/ 293481 w 460933"/>
                    <a:gd name="connsiteY0" fmla="*/ 377595 h 605592"/>
                    <a:gd name="connsiteX1" fmla="*/ 350286 w 460933"/>
                    <a:gd name="connsiteY1" fmla="*/ 377595 h 605592"/>
                    <a:gd name="connsiteX2" fmla="*/ 350286 w 460933"/>
                    <a:gd name="connsiteY2" fmla="*/ 508917 h 605592"/>
                    <a:gd name="connsiteX3" fmla="*/ 293481 w 460933"/>
                    <a:gd name="connsiteY3" fmla="*/ 508917 h 605592"/>
                    <a:gd name="connsiteX4" fmla="*/ 202099 w 460933"/>
                    <a:gd name="connsiteY4" fmla="*/ 261162 h 605592"/>
                    <a:gd name="connsiteX5" fmla="*/ 258904 w 460933"/>
                    <a:gd name="connsiteY5" fmla="*/ 261162 h 605592"/>
                    <a:gd name="connsiteX6" fmla="*/ 258904 w 460933"/>
                    <a:gd name="connsiteY6" fmla="*/ 508917 h 605592"/>
                    <a:gd name="connsiteX7" fmla="*/ 202099 w 460933"/>
                    <a:gd name="connsiteY7" fmla="*/ 508917 h 605592"/>
                    <a:gd name="connsiteX8" fmla="*/ 110647 w 460933"/>
                    <a:gd name="connsiteY8" fmla="*/ 97521 h 605592"/>
                    <a:gd name="connsiteX9" fmla="*/ 167452 w 460933"/>
                    <a:gd name="connsiteY9" fmla="*/ 97521 h 605592"/>
                    <a:gd name="connsiteX10" fmla="*/ 167452 w 460933"/>
                    <a:gd name="connsiteY10" fmla="*/ 508917 h 605592"/>
                    <a:gd name="connsiteX11" fmla="*/ 110647 w 460933"/>
                    <a:gd name="connsiteY11" fmla="*/ 508917 h 605592"/>
                    <a:gd name="connsiteX12" fmla="*/ 304689 w 460933"/>
                    <a:gd name="connsiteY12" fmla="*/ 51818 h 605592"/>
                    <a:gd name="connsiteX13" fmla="*/ 304689 w 460933"/>
                    <a:gd name="connsiteY13" fmla="*/ 137377 h 605592"/>
                    <a:gd name="connsiteX14" fmla="*/ 392884 w 460933"/>
                    <a:gd name="connsiteY14" fmla="*/ 137377 h 605592"/>
                    <a:gd name="connsiteX15" fmla="*/ 37970 w 460933"/>
                    <a:gd name="connsiteY15" fmla="*/ 37820 h 605592"/>
                    <a:gd name="connsiteX16" fmla="*/ 37970 w 460933"/>
                    <a:gd name="connsiteY16" fmla="*/ 567772 h 605592"/>
                    <a:gd name="connsiteX17" fmla="*/ 423056 w 460933"/>
                    <a:gd name="connsiteY17" fmla="*/ 567772 h 605592"/>
                    <a:gd name="connsiteX18" fmla="*/ 423056 w 460933"/>
                    <a:gd name="connsiteY18" fmla="*/ 175198 h 605592"/>
                    <a:gd name="connsiteX19" fmla="*/ 266812 w 460933"/>
                    <a:gd name="connsiteY19" fmla="*/ 175198 h 605592"/>
                    <a:gd name="connsiteX20" fmla="*/ 266812 w 460933"/>
                    <a:gd name="connsiteY20" fmla="*/ 37820 h 605592"/>
                    <a:gd name="connsiteX21" fmla="*/ 0 w 460933"/>
                    <a:gd name="connsiteY21" fmla="*/ 0 h 605592"/>
                    <a:gd name="connsiteX22" fmla="*/ 305618 w 460933"/>
                    <a:gd name="connsiteY22" fmla="*/ 0 h 605592"/>
                    <a:gd name="connsiteX23" fmla="*/ 460933 w 460933"/>
                    <a:gd name="connsiteY23" fmla="*/ 150633 h 605592"/>
                    <a:gd name="connsiteX24" fmla="*/ 460933 w 460933"/>
                    <a:gd name="connsiteY24" fmla="*/ 605592 h 605592"/>
                    <a:gd name="connsiteX25" fmla="*/ 0 w 460933"/>
                    <a:gd name="connsiteY25" fmla="*/ 605592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60933" h="605592">
                      <a:moveTo>
                        <a:pt x="293481" y="377595"/>
                      </a:moveTo>
                      <a:lnTo>
                        <a:pt x="350286" y="377595"/>
                      </a:lnTo>
                      <a:lnTo>
                        <a:pt x="350286" y="508917"/>
                      </a:lnTo>
                      <a:lnTo>
                        <a:pt x="293481" y="508917"/>
                      </a:lnTo>
                      <a:close/>
                      <a:moveTo>
                        <a:pt x="202099" y="261162"/>
                      </a:moveTo>
                      <a:lnTo>
                        <a:pt x="258904" y="261162"/>
                      </a:lnTo>
                      <a:lnTo>
                        <a:pt x="258904" y="508917"/>
                      </a:lnTo>
                      <a:lnTo>
                        <a:pt x="202099" y="508917"/>
                      </a:lnTo>
                      <a:close/>
                      <a:moveTo>
                        <a:pt x="110647" y="97521"/>
                      </a:moveTo>
                      <a:lnTo>
                        <a:pt x="167452" y="97521"/>
                      </a:lnTo>
                      <a:lnTo>
                        <a:pt x="167452" y="508917"/>
                      </a:lnTo>
                      <a:lnTo>
                        <a:pt x="110647" y="508917"/>
                      </a:lnTo>
                      <a:close/>
                      <a:moveTo>
                        <a:pt x="304689" y="51818"/>
                      </a:moveTo>
                      <a:lnTo>
                        <a:pt x="304689" y="137377"/>
                      </a:lnTo>
                      <a:lnTo>
                        <a:pt x="392884" y="137377"/>
                      </a:lnTo>
                      <a:close/>
                      <a:moveTo>
                        <a:pt x="37970" y="37820"/>
                      </a:moveTo>
                      <a:lnTo>
                        <a:pt x="37970" y="567772"/>
                      </a:lnTo>
                      <a:lnTo>
                        <a:pt x="423056" y="567772"/>
                      </a:lnTo>
                      <a:lnTo>
                        <a:pt x="423056" y="175198"/>
                      </a:lnTo>
                      <a:lnTo>
                        <a:pt x="266812" y="175198"/>
                      </a:lnTo>
                      <a:lnTo>
                        <a:pt x="266812" y="37820"/>
                      </a:lnTo>
                      <a:close/>
                      <a:moveTo>
                        <a:pt x="0" y="0"/>
                      </a:moveTo>
                      <a:lnTo>
                        <a:pt x="305618" y="0"/>
                      </a:lnTo>
                      <a:lnTo>
                        <a:pt x="460933" y="150633"/>
                      </a:lnTo>
                      <a:lnTo>
                        <a:pt x="460933" y="605592"/>
                      </a:lnTo>
                      <a:lnTo>
                        <a:pt x="0" y="605592"/>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cs typeface="+mn-ea"/>
                    <a:sym typeface="+mn-lt"/>
                  </a:endParaRPr>
                </a:p>
              </p:txBody>
            </p:sp>
          </p:grpSp>
          <p:grpSp>
            <p:nvGrpSpPr>
              <p:cNvPr id="53" name="Group 84"/>
              <p:cNvGrpSpPr/>
              <p:nvPr/>
            </p:nvGrpSpPr>
            <p:grpSpPr>
              <a:xfrm>
                <a:off x="1800218" y="4577715"/>
                <a:ext cx="800100" cy="800100"/>
                <a:chOff x="838835" y="4537710"/>
                <a:chExt cx="800100" cy="800100"/>
              </a:xfrm>
            </p:grpSpPr>
            <p:sp>
              <p:nvSpPr>
                <p:cNvPr id="54" name="椭圆 53"/>
                <p:cNvSpPr/>
                <p:nvPr/>
              </p:nvSpPr>
              <p:spPr>
                <a:xfrm>
                  <a:off x="838835" y="4537710"/>
                  <a:ext cx="800100" cy="800100"/>
                </a:xfrm>
                <a:prstGeom prst="ellipse">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stack-of-sheets_1370"/>
                <p:cNvSpPr>
                  <a:spLocks noChangeAspect="1"/>
                </p:cNvSpPr>
                <p:nvPr/>
              </p:nvSpPr>
              <p:spPr bwMode="auto">
                <a:xfrm>
                  <a:off x="963744" y="4696459"/>
                  <a:ext cx="474081" cy="482600"/>
                </a:xfrm>
                <a:custGeom>
                  <a:avLst/>
                  <a:gdLst>
                    <a:gd name="T0" fmla="*/ 10015 w 10200"/>
                    <a:gd name="T1" fmla="*/ 94 h 10384"/>
                    <a:gd name="T2" fmla="*/ 9551 w 10200"/>
                    <a:gd name="T3" fmla="*/ 94 h 10384"/>
                    <a:gd name="T4" fmla="*/ 278 w 10200"/>
                    <a:gd name="T5" fmla="*/ 4773 h 10384"/>
                    <a:gd name="T6" fmla="*/ 0 w 10200"/>
                    <a:gd name="T7" fmla="*/ 5148 h 10384"/>
                    <a:gd name="T8" fmla="*/ 186 w 10200"/>
                    <a:gd name="T9" fmla="*/ 5523 h 10384"/>
                    <a:gd name="T10" fmla="*/ 2411 w 10200"/>
                    <a:gd name="T11" fmla="*/ 6926 h 10384"/>
                    <a:gd name="T12" fmla="*/ 2968 w 10200"/>
                    <a:gd name="T13" fmla="*/ 6832 h 10384"/>
                    <a:gd name="T14" fmla="*/ 7882 w 10200"/>
                    <a:gd name="T15" fmla="*/ 2341 h 10384"/>
                    <a:gd name="T16" fmla="*/ 8069 w 10200"/>
                    <a:gd name="T17" fmla="*/ 2435 h 10384"/>
                    <a:gd name="T18" fmla="*/ 3616 w 10200"/>
                    <a:gd name="T19" fmla="*/ 7205 h 10384"/>
                    <a:gd name="T20" fmla="*/ 3524 w 10200"/>
                    <a:gd name="T21" fmla="*/ 7485 h 10384"/>
                    <a:gd name="T22" fmla="*/ 3524 w 10200"/>
                    <a:gd name="T23" fmla="*/ 9544 h 10384"/>
                    <a:gd name="T24" fmla="*/ 3801 w 10200"/>
                    <a:gd name="T25" fmla="*/ 10011 h 10384"/>
                    <a:gd name="T26" fmla="*/ 4265 w 10200"/>
                    <a:gd name="T27" fmla="*/ 9917 h 10384"/>
                    <a:gd name="T28" fmla="*/ 5379 w 10200"/>
                    <a:gd name="T29" fmla="*/ 8794 h 10384"/>
                    <a:gd name="T30" fmla="*/ 7604 w 10200"/>
                    <a:gd name="T31" fmla="*/ 10290 h 10384"/>
                    <a:gd name="T32" fmla="*/ 7881 w 10200"/>
                    <a:gd name="T33" fmla="*/ 10384 h 10384"/>
                    <a:gd name="T34" fmla="*/ 8068 w 10200"/>
                    <a:gd name="T35" fmla="*/ 10384 h 10384"/>
                    <a:gd name="T36" fmla="*/ 8345 w 10200"/>
                    <a:gd name="T37" fmla="*/ 10009 h 10384"/>
                    <a:gd name="T38" fmla="*/ 10200 w 10200"/>
                    <a:gd name="T39" fmla="*/ 655 h 10384"/>
                    <a:gd name="T40" fmla="*/ 10015 w 10200"/>
                    <a:gd name="T41" fmla="*/ 94 h 10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00" h="10384">
                      <a:moveTo>
                        <a:pt x="10015" y="94"/>
                      </a:moveTo>
                      <a:cubicBezTo>
                        <a:pt x="9829" y="0"/>
                        <a:pt x="9644" y="0"/>
                        <a:pt x="9551" y="94"/>
                      </a:cubicBezTo>
                      <a:lnTo>
                        <a:pt x="278" y="4773"/>
                      </a:lnTo>
                      <a:cubicBezTo>
                        <a:pt x="91" y="4773"/>
                        <a:pt x="0" y="4960"/>
                        <a:pt x="0" y="5148"/>
                      </a:cubicBezTo>
                      <a:cubicBezTo>
                        <a:pt x="0" y="5335"/>
                        <a:pt x="93" y="5523"/>
                        <a:pt x="186" y="5523"/>
                      </a:cubicBezTo>
                      <a:lnTo>
                        <a:pt x="2411" y="6926"/>
                      </a:lnTo>
                      <a:cubicBezTo>
                        <a:pt x="2597" y="7020"/>
                        <a:pt x="2782" y="7020"/>
                        <a:pt x="2968" y="6832"/>
                      </a:cubicBezTo>
                      <a:lnTo>
                        <a:pt x="7882" y="2341"/>
                      </a:lnTo>
                      <a:lnTo>
                        <a:pt x="8069" y="2435"/>
                      </a:lnTo>
                      <a:lnTo>
                        <a:pt x="3616" y="7205"/>
                      </a:lnTo>
                      <a:cubicBezTo>
                        <a:pt x="3524" y="7299"/>
                        <a:pt x="3524" y="7393"/>
                        <a:pt x="3524" y="7485"/>
                      </a:cubicBezTo>
                      <a:lnTo>
                        <a:pt x="3524" y="9544"/>
                      </a:lnTo>
                      <a:cubicBezTo>
                        <a:pt x="3524" y="9731"/>
                        <a:pt x="3616" y="9919"/>
                        <a:pt x="3801" y="10011"/>
                      </a:cubicBezTo>
                      <a:cubicBezTo>
                        <a:pt x="3986" y="10104"/>
                        <a:pt x="4173" y="10011"/>
                        <a:pt x="4265" y="9917"/>
                      </a:cubicBezTo>
                      <a:lnTo>
                        <a:pt x="5379" y="8794"/>
                      </a:lnTo>
                      <a:lnTo>
                        <a:pt x="7604" y="10290"/>
                      </a:lnTo>
                      <a:cubicBezTo>
                        <a:pt x="7696" y="10384"/>
                        <a:pt x="7790" y="10384"/>
                        <a:pt x="7881" y="10384"/>
                      </a:cubicBezTo>
                      <a:lnTo>
                        <a:pt x="8068" y="10384"/>
                      </a:lnTo>
                      <a:cubicBezTo>
                        <a:pt x="8254" y="10290"/>
                        <a:pt x="8345" y="10196"/>
                        <a:pt x="8345" y="10009"/>
                      </a:cubicBezTo>
                      <a:lnTo>
                        <a:pt x="10200" y="655"/>
                      </a:lnTo>
                      <a:cubicBezTo>
                        <a:pt x="10200" y="374"/>
                        <a:pt x="10200" y="188"/>
                        <a:pt x="10015" y="94"/>
                      </a:cubicBezTo>
                      <a:close/>
                    </a:path>
                  </a:pathLst>
                </a:custGeom>
                <a:solidFill>
                  <a:schemeClr val="accent2"/>
                </a:solidFill>
                <a:ln>
                  <a:noFill/>
                </a:ln>
              </p:spPr>
              <p:txBody>
                <a:bodyPr/>
                <a:lstStyle/>
                <a:p>
                  <a:endParaRPr lang="zh-CN" altLang="en-US" dirty="0">
                    <a:cs typeface="+mn-ea"/>
                    <a:sym typeface="+mn-lt"/>
                  </a:endParaRPr>
                </a:p>
              </p:txBody>
            </p:sp>
          </p:grpSp>
        </p:grpSp>
        <p:grpSp>
          <p:nvGrpSpPr>
            <p:cNvPr id="48" name="组合 47"/>
            <p:cNvGrpSpPr/>
            <p:nvPr/>
          </p:nvGrpSpPr>
          <p:grpSpPr>
            <a:xfrm>
              <a:off x="838835" y="1378487"/>
              <a:ext cx="10591800" cy="2828290"/>
              <a:chOff x="914400" y="1269181"/>
              <a:chExt cx="10591800" cy="2828290"/>
            </a:xfrm>
          </p:grpSpPr>
          <p:sp>
            <p:nvSpPr>
              <p:cNvPr id="49" name="文本框 48"/>
              <p:cNvSpPr txBox="1"/>
              <p:nvPr/>
            </p:nvSpPr>
            <p:spPr>
              <a:xfrm>
                <a:off x="914400" y="1791151"/>
                <a:ext cx="10591800" cy="2306320"/>
              </a:xfrm>
              <a:prstGeom prst="rect">
                <a:avLst/>
              </a:prstGeom>
              <a:noFill/>
            </p:spPr>
            <p:txBody>
              <a:bodyPr wrap="square" rtlCol="0">
                <a:spAutoFit/>
              </a:bodyPr>
              <a:lstStyle/>
              <a:p>
                <a:pPr marL="0" marR="0" lvl="0" indent="0" defTabSz="914400" rtl="0" eaLnBrk="1" fontAlgn="auto" latinLnBrk="0" hangingPunct="1">
                  <a:lnSpc>
                    <a:spcPct val="16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tx1">
                        <a:lumMod val="50000"/>
                        <a:lumOff val="50000"/>
                      </a:schemeClr>
                    </a:solidFill>
                    <a:effectLst/>
                    <a:uLnTx/>
                    <a:uFillTx/>
                    <a:cs typeface="+mn-ea"/>
                    <a:sym typeface="+mn-lt"/>
                  </a:rPr>
                  <a:t>Campus micro food vendors are micro-enterprises with limited manpower. Manual order tallying is repetitive, draining work that takes time away from business improvement. Our AI-assisted ordering workflow automates this repetitive administrative burden without replacing the merchant. Merchants can redirect saved time to food quality, customer service and business expansion, supporting the growth and formalisation of local micro-enterprises.</a:t>
                </a:r>
                <a:endParaRPr kumimoji="0" lang="zh-CN" altLang="en-US" b="0" i="0" u="none" strike="noStrike" kern="1200" cap="none" spc="0" normalizeH="0" baseline="0" noProof="0" dirty="0">
                  <a:ln>
                    <a:noFill/>
                  </a:ln>
                  <a:solidFill>
                    <a:schemeClr val="tx1">
                      <a:lumMod val="50000"/>
                      <a:lumOff val="50000"/>
                    </a:schemeClr>
                  </a:solidFill>
                  <a:effectLst/>
                  <a:uLnTx/>
                  <a:uFillTx/>
                  <a:cs typeface="+mn-ea"/>
                  <a:sym typeface="+mn-lt"/>
                </a:endParaRPr>
              </a:p>
            </p:txBody>
          </p:sp>
          <p:sp>
            <p:nvSpPr>
              <p:cNvPr id="50" name="文本框 49"/>
              <p:cNvSpPr txBox="1"/>
              <p:nvPr/>
            </p:nvSpPr>
            <p:spPr>
              <a:xfrm>
                <a:off x="914400" y="1269181"/>
                <a:ext cx="1301115" cy="521970"/>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effectLst/>
                    <a:uLnTx/>
                    <a:uFillTx/>
                    <a:cs typeface="+mn-ea"/>
                    <a:sym typeface="+mn-lt"/>
                  </a:rPr>
                  <a:t>SDG 8</a:t>
                </a:r>
                <a:endParaRPr kumimoji="0" lang="en-US" altLang="zh-CN" sz="2800" b="1" i="0" u="none" strike="noStrike" kern="1200" cap="none" spc="0" normalizeH="0" baseline="0" noProof="0" dirty="0">
                  <a:ln>
                    <a:noFill/>
                  </a:ln>
                  <a:effectLst/>
                  <a:uLnTx/>
                  <a:uFillTx/>
                  <a:cs typeface="+mn-ea"/>
                  <a:sym typeface="+mn-lt"/>
                </a:endParaRPr>
              </a:p>
            </p:txBody>
          </p:sp>
        </p:grpSp>
      </p:grpSp>
      <p:sp>
        <p:nvSpPr>
          <p:cNvPr id="31" name="文本框 30"/>
          <p:cNvSpPr txBox="1"/>
          <p:nvPr/>
        </p:nvSpPr>
        <p:spPr>
          <a:xfrm>
            <a:off x="1069340" y="195580"/>
            <a:ext cx="6527165" cy="583565"/>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3200" b="1" i="0" u="none" strike="noStrike" cap="none" spc="0" normalizeH="0" baseline="0">
                <a:ln>
                  <a:noFill/>
                </a:ln>
                <a:solidFill>
                  <a:srgbClr val="000000">
                    <a:lumMod val="85000"/>
                    <a:lumOff val="15000"/>
                  </a:srgbClr>
                </a:solidFill>
                <a:effectLst/>
                <a:uLnTx/>
                <a:uFillTx/>
                <a:cs typeface="+mn-ea"/>
              </a:defRPr>
            </a:lvl1pPr>
          </a:lstStyle>
          <a:p>
            <a:r>
              <a:rPr lang="en-US" altLang="zh-CN" dirty="0">
                <a:sym typeface="+mn-lt"/>
              </a:rPr>
              <a:t>Overall </a:t>
            </a:r>
            <a:r>
              <a:rPr lang="en-US" altLang="zh-CN" dirty="0">
                <a:sym typeface="+mn-lt"/>
              </a:rPr>
              <a:t>process</a:t>
            </a:r>
            <a:endParaRPr lang="en-US" altLang="zh-CN" dirty="0">
              <a:sym typeface="+mn-lt"/>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五边形 18"/>
          <p:cNvSpPr/>
          <p:nvPr/>
        </p:nvSpPr>
        <p:spPr>
          <a:xfrm rot="5400000">
            <a:off x="4363438" y="-162964"/>
            <a:ext cx="3465124" cy="3791052"/>
          </a:xfrm>
          <a:prstGeom prst="homePlate">
            <a:avLst>
              <a:gd name="adj" fmla="val 522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菱形 17"/>
          <p:cNvSpPr/>
          <p:nvPr/>
        </p:nvSpPr>
        <p:spPr>
          <a:xfrm>
            <a:off x="4978400" y="698500"/>
            <a:ext cx="2235200" cy="22352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solidFill>
                  <a:srgbClr val="2F5597"/>
                </a:solidFill>
                <a:latin typeface="Impact" panose="020B0806030902050204" pitchFamily="34" charset="0"/>
                <a:cs typeface="+mn-ea"/>
                <a:sym typeface="+mn-lt"/>
              </a:rPr>
              <a:t>03</a:t>
            </a:r>
            <a:endParaRPr lang="en-US" altLang="zh-CN" sz="5400" dirty="0">
              <a:solidFill>
                <a:srgbClr val="2F5597"/>
              </a:solidFill>
              <a:latin typeface="Impact" panose="020B0806030902050204" pitchFamily="34" charset="0"/>
              <a:cs typeface="+mn-ea"/>
              <a:sym typeface="+mn-lt"/>
            </a:endParaRPr>
          </a:p>
        </p:txBody>
      </p:sp>
      <p:grpSp>
        <p:nvGrpSpPr>
          <p:cNvPr id="22" name="组合 21"/>
          <p:cNvGrpSpPr/>
          <p:nvPr/>
        </p:nvGrpSpPr>
        <p:grpSpPr>
          <a:xfrm flipH="1">
            <a:off x="4409973" y="5023576"/>
            <a:ext cx="3372055" cy="89175"/>
            <a:chOff x="6741212" y="387738"/>
            <a:chExt cx="5092048" cy="172787"/>
          </a:xfrm>
          <a:solidFill>
            <a:schemeClr val="accent1"/>
          </a:solidFill>
        </p:grpSpPr>
        <p:sp>
          <p:nvSpPr>
            <p:cNvPr id="23" name="平行四边形 22"/>
            <p:cNvSpPr/>
            <p:nvPr/>
          </p:nvSpPr>
          <p:spPr>
            <a:xfrm flipH="1">
              <a:off x="6741212"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平行四边形 23"/>
            <p:cNvSpPr/>
            <p:nvPr/>
          </p:nvSpPr>
          <p:spPr>
            <a:xfrm flipH="1">
              <a:off x="8128699"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平行四边形 24"/>
            <p:cNvSpPr/>
            <p:nvPr/>
          </p:nvSpPr>
          <p:spPr>
            <a:xfrm flipH="1">
              <a:off x="9516186"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平行四边形 25"/>
            <p:cNvSpPr/>
            <p:nvPr/>
          </p:nvSpPr>
          <p:spPr>
            <a:xfrm flipH="1">
              <a:off x="10903673"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文本框 26"/>
          <p:cNvSpPr txBox="1"/>
          <p:nvPr/>
        </p:nvSpPr>
        <p:spPr>
          <a:xfrm>
            <a:off x="3098514" y="3737977"/>
            <a:ext cx="5994972" cy="1106805"/>
          </a:xfrm>
          <a:prstGeom prst="rect">
            <a:avLst/>
          </a:prstGeom>
          <a:noFill/>
        </p:spPr>
        <p:txBody>
          <a:bodyPr wrap="square" rtlCol="0">
            <a:spAutoFit/>
            <a:scene3d>
              <a:camera prst="orthographicFront"/>
              <a:lightRig rig="threePt" dir="t"/>
            </a:scene3d>
            <a:sp3d contourW="12700"/>
          </a:bodyPr>
          <a:lstStyle>
            <a:defPPr>
              <a:defRPr lang="zh-CN"/>
            </a:defPPr>
            <a:lvl1pPr marR="0" lvl="0" indent="0" algn="ctr" fontAlgn="auto">
              <a:lnSpc>
                <a:spcPct val="100000"/>
              </a:lnSpc>
              <a:spcBef>
                <a:spcPts val="0"/>
              </a:spcBef>
              <a:spcAft>
                <a:spcPts val="0"/>
              </a:spcAft>
              <a:buClrTx/>
              <a:buSzTx/>
              <a:buFontTx/>
              <a:buNone/>
              <a:defRPr kumimoji="0" sz="6600" b="0" i="0" u="none" strike="noStrike" cap="none" spc="0" normalizeH="0" baseline="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defRPr>
            </a:lvl1pPr>
          </a:lstStyle>
          <a:p>
            <a:r>
              <a:rPr lang="en-US" altLang="zh-CN" dirty="0">
                <a:sym typeface="+mn-lt"/>
              </a:rPr>
              <a:t>Operation </a:t>
            </a:r>
            <a:r>
              <a:rPr lang="en-US" altLang="zh-CN" dirty="0">
                <a:sym typeface="+mn-lt"/>
              </a:rPr>
              <a:t>demo</a:t>
            </a:r>
            <a:endParaRPr lang="en-US" altLang="zh-CN" dirty="0">
              <a:sym typeface="+mn-lt"/>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_1792788911(原视频)">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609600" y="0"/>
            <a:ext cx="10972800" cy="6858000"/>
          </a:xfrm>
          <a:prstGeom prst="rect">
            <a:avLst/>
          </a:prstGeom>
        </p:spPr>
      </p:pic>
    </p:spTree>
    <p:custDataLst>
      <p:tags r:id="rId5"/>
    </p:custDataLst>
  </p:cSld>
  <p:clrMapOvr>
    <a:masterClrMapping/>
  </p:clrMapOvr>
  <p:timing>
    <p:tnLst>
      <p:par>
        <p:cTn id="1" dur="indefinite" restart="never" nodeType="tmRoot">
          <p:childTnLst>
            <p:video fullScrn="0">
              <p:cMediaNode>
                <p:cTn id="2" fill="hold" display="1">
                  <p:stCondLst>
                    <p:cond delay="indefinite"/>
                  </p:stCondLst>
                </p:cTn>
                <p:tgtEl>
                  <p:spTgt spid="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五边形 18"/>
          <p:cNvSpPr/>
          <p:nvPr/>
        </p:nvSpPr>
        <p:spPr>
          <a:xfrm rot="5400000">
            <a:off x="4363438" y="-162964"/>
            <a:ext cx="3465124" cy="3791052"/>
          </a:xfrm>
          <a:prstGeom prst="homePlate">
            <a:avLst>
              <a:gd name="adj" fmla="val 522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菱形 17"/>
          <p:cNvSpPr/>
          <p:nvPr/>
        </p:nvSpPr>
        <p:spPr>
          <a:xfrm>
            <a:off x="4978400" y="698500"/>
            <a:ext cx="2235200" cy="22352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srgbClr val="2F5597"/>
                </a:solidFill>
                <a:effectLst/>
                <a:uLnTx/>
                <a:uFillTx/>
                <a:latin typeface="Impact" panose="020B0806030902050204" pitchFamily="34" charset="0"/>
                <a:cs typeface="+mn-ea"/>
                <a:sym typeface="+mn-lt"/>
              </a:rPr>
              <a:t>04</a:t>
            </a:r>
            <a:endParaRPr kumimoji="0" lang="en-US" altLang="zh-CN" sz="5400" b="0" i="0" u="none" strike="noStrike" kern="1200" cap="none" spc="0" normalizeH="0" baseline="0" noProof="0" dirty="0">
              <a:ln>
                <a:noFill/>
              </a:ln>
              <a:solidFill>
                <a:srgbClr val="2F5597"/>
              </a:solidFill>
              <a:effectLst/>
              <a:uLnTx/>
              <a:uFillTx/>
              <a:latin typeface="Impact" panose="020B0806030902050204" pitchFamily="34" charset="0"/>
              <a:cs typeface="+mn-ea"/>
              <a:sym typeface="+mn-lt"/>
            </a:endParaRPr>
          </a:p>
        </p:txBody>
      </p:sp>
      <p:grpSp>
        <p:nvGrpSpPr>
          <p:cNvPr id="22" name="组合 21"/>
          <p:cNvGrpSpPr/>
          <p:nvPr/>
        </p:nvGrpSpPr>
        <p:grpSpPr>
          <a:xfrm flipH="1">
            <a:off x="4409973" y="5023576"/>
            <a:ext cx="3372055" cy="89175"/>
            <a:chOff x="6741212" y="387738"/>
            <a:chExt cx="5092048" cy="172787"/>
          </a:xfrm>
          <a:solidFill>
            <a:schemeClr val="accent1"/>
          </a:solidFill>
        </p:grpSpPr>
        <p:sp>
          <p:nvSpPr>
            <p:cNvPr id="23" name="平行四边形 22"/>
            <p:cNvSpPr/>
            <p:nvPr/>
          </p:nvSpPr>
          <p:spPr>
            <a:xfrm flipH="1">
              <a:off x="6741212"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平行四边形 23"/>
            <p:cNvSpPr/>
            <p:nvPr/>
          </p:nvSpPr>
          <p:spPr>
            <a:xfrm flipH="1">
              <a:off x="8128699"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平行四边形 24"/>
            <p:cNvSpPr/>
            <p:nvPr/>
          </p:nvSpPr>
          <p:spPr>
            <a:xfrm flipH="1">
              <a:off x="9516186" y="387738"/>
              <a:ext cx="929587" cy="172787"/>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平行四边形 25"/>
            <p:cNvSpPr/>
            <p:nvPr/>
          </p:nvSpPr>
          <p:spPr>
            <a:xfrm flipH="1">
              <a:off x="10903673" y="387738"/>
              <a:ext cx="929587" cy="172787"/>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文本框 26"/>
          <p:cNvSpPr txBox="1"/>
          <p:nvPr/>
        </p:nvSpPr>
        <p:spPr>
          <a:xfrm>
            <a:off x="2275205" y="3725545"/>
            <a:ext cx="7640955" cy="1106805"/>
          </a:xfrm>
          <a:prstGeom prst="rect">
            <a:avLst/>
          </a:prstGeom>
          <a:noFill/>
        </p:spPr>
        <p:txBody>
          <a:bodyPr wrap="square" rtlCol="0">
            <a:spAutoFit/>
            <a:scene3d>
              <a:camera prst="orthographicFront"/>
              <a:lightRig rig="threePt" dir="t"/>
            </a:scene3d>
            <a:sp3d contourW="12700"/>
          </a:bodyPr>
          <a:lstStyle>
            <a:defPPr>
              <a:defRPr lang="zh-CN"/>
            </a:defPPr>
            <a:lvl1pPr marR="0" lvl="0" indent="0" algn="ctr" fontAlgn="auto">
              <a:lnSpc>
                <a:spcPct val="100000"/>
              </a:lnSpc>
              <a:spcBef>
                <a:spcPts val="0"/>
              </a:spcBef>
              <a:spcAft>
                <a:spcPts val="0"/>
              </a:spcAft>
              <a:buClrTx/>
              <a:buSzTx/>
              <a:buFontTx/>
              <a:buNone/>
              <a:defRPr kumimoji="0" sz="6600" b="0" i="0" u="none" strike="noStrike" cap="none" spc="0" normalizeH="0" baseline="0">
                <a:ln>
                  <a:noFill/>
                </a:ln>
                <a:solidFill>
                  <a:srgbClr val="000000">
                    <a:lumMod val="85000"/>
                    <a:lumOff val="15000"/>
                  </a:srgbClr>
                </a:solidFill>
                <a:effectLst/>
                <a:uLnTx/>
                <a:uFillTx/>
                <a:latin typeface="思源宋体 CN Heavy" panose="02020900000000000000" pitchFamily="18" charset="-122"/>
                <a:ea typeface="思源宋体 CN Heavy" panose="02020900000000000000" pitchFamily="18" charset="-122"/>
                <a:cs typeface="+mn-ea"/>
              </a:defRPr>
            </a:lvl1pPr>
          </a:lstStyle>
          <a:p>
            <a:r>
              <a:rPr lang="en-US" altLang="zh-CN" dirty="0">
                <a:sym typeface="+mn-lt"/>
              </a:rPr>
              <a:t>Design </a:t>
            </a:r>
            <a:r>
              <a:rPr lang="en-US" altLang="zh-CN" dirty="0">
                <a:sym typeface="+mn-lt"/>
              </a:rPr>
              <a:t>conception</a:t>
            </a:r>
            <a:endParaRPr lang="en-US" altLang="zh-CN" dirty="0">
              <a:sym typeface="+mn-lt"/>
            </a:endParaRPr>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194310" y="3066415"/>
            <a:ext cx="5671778" cy="3583990"/>
            <a:chOff x="6210300" y="3027045"/>
            <a:chExt cx="5671778" cy="3583990"/>
          </a:xfrm>
        </p:grpSpPr>
        <p:grpSp>
          <p:nvGrpSpPr>
            <p:cNvPr id="34" name="组合 33"/>
            <p:cNvGrpSpPr/>
            <p:nvPr/>
          </p:nvGrpSpPr>
          <p:grpSpPr>
            <a:xfrm>
              <a:off x="6210300" y="3027045"/>
              <a:ext cx="5562599" cy="1562100"/>
              <a:chOff x="6210300" y="3027045"/>
              <a:chExt cx="5562599" cy="1562100"/>
            </a:xfrm>
          </p:grpSpPr>
          <p:sp>
            <p:nvSpPr>
              <p:cNvPr id="41" name="矩形 40"/>
              <p:cNvSpPr/>
              <p:nvPr/>
            </p:nvSpPr>
            <p:spPr>
              <a:xfrm>
                <a:off x="6210300" y="3027045"/>
                <a:ext cx="5562599" cy="156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2" name="iconfont-11592-5504371"/>
              <p:cNvSpPr>
                <a:spLocks noChangeAspect="1"/>
              </p:cNvSpPr>
              <p:nvPr/>
            </p:nvSpPr>
            <p:spPr bwMode="auto">
              <a:xfrm>
                <a:off x="6534108" y="3503252"/>
                <a:ext cx="609685" cy="609685"/>
              </a:xfrm>
              <a:custGeom>
                <a:avLst/>
                <a:gdLst>
                  <a:gd name="T0" fmla="*/ 10398 w 11734"/>
                  <a:gd name="T1" fmla="*/ 1067 h 11734"/>
                  <a:gd name="T2" fmla="*/ 11734 w 11734"/>
                  <a:gd name="T3" fmla="*/ 10398 h 11734"/>
                  <a:gd name="T4" fmla="*/ 1336 w 11734"/>
                  <a:gd name="T5" fmla="*/ 11734 h 11734"/>
                  <a:gd name="T6" fmla="*/ 0 w 11734"/>
                  <a:gd name="T7" fmla="*/ 2402 h 11734"/>
                  <a:gd name="T8" fmla="*/ 2134 w 11734"/>
                  <a:gd name="T9" fmla="*/ 1067 h 11734"/>
                  <a:gd name="T10" fmla="*/ 2667 w 11734"/>
                  <a:gd name="T11" fmla="*/ 0 h 11734"/>
                  <a:gd name="T12" fmla="*/ 3200 w 11734"/>
                  <a:gd name="T13" fmla="*/ 1067 h 11734"/>
                  <a:gd name="T14" fmla="*/ 4267 w 11734"/>
                  <a:gd name="T15" fmla="*/ 534 h 11734"/>
                  <a:gd name="T16" fmla="*/ 5334 w 11734"/>
                  <a:gd name="T17" fmla="*/ 534 h 11734"/>
                  <a:gd name="T18" fmla="*/ 6400 w 11734"/>
                  <a:gd name="T19" fmla="*/ 1067 h 11734"/>
                  <a:gd name="T20" fmla="*/ 6934 w 11734"/>
                  <a:gd name="T21" fmla="*/ 0 h 11734"/>
                  <a:gd name="T22" fmla="*/ 7467 w 11734"/>
                  <a:gd name="T23" fmla="*/ 1067 h 11734"/>
                  <a:gd name="T24" fmla="*/ 8534 w 11734"/>
                  <a:gd name="T25" fmla="*/ 534 h 11734"/>
                  <a:gd name="T26" fmla="*/ 9600 w 11734"/>
                  <a:gd name="T27" fmla="*/ 534 h 11734"/>
                  <a:gd name="T28" fmla="*/ 9600 w 11734"/>
                  <a:gd name="T29" fmla="*/ 2134 h 11734"/>
                  <a:gd name="T30" fmla="*/ 9067 w 11734"/>
                  <a:gd name="T31" fmla="*/ 3200 h 11734"/>
                  <a:gd name="T32" fmla="*/ 8534 w 11734"/>
                  <a:gd name="T33" fmla="*/ 2134 h 11734"/>
                  <a:gd name="T34" fmla="*/ 7467 w 11734"/>
                  <a:gd name="T35" fmla="*/ 2667 h 11734"/>
                  <a:gd name="T36" fmla="*/ 6400 w 11734"/>
                  <a:gd name="T37" fmla="*/ 2667 h 11734"/>
                  <a:gd name="T38" fmla="*/ 5334 w 11734"/>
                  <a:gd name="T39" fmla="*/ 2134 h 11734"/>
                  <a:gd name="T40" fmla="*/ 4800 w 11734"/>
                  <a:gd name="T41" fmla="*/ 3200 h 11734"/>
                  <a:gd name="T42" fmla="*/ 4267 w 11734"/>
                  <a:gd name="T43" fmla="*/ 2134 h 11734"/>
                  <a:gd name="T44" fmla="*/ 3200 w 11734"/>
                  <a:gd name="T45" fmla="*/ 2667 h 11734"/>
                  <a:gd name="T46" fmla="*/ 2134 w 11734"/>
                  <a:gd name="T47" fmla="*/ 2667 h 11734"/>
                  <a:gd name="T48" fmla="*/ 1336 w 11734"/>
                  <a:gd name="T49" fmla="*/ 2134 h 11734"/>
                  <a:gd name="T50" fmla="*/ 1067 w 11734"/>
                  <a:gd name="T51" fmla="*/ 10398 h 11734"/>
                  <a:gd name="T52" fmla="*/ 10398 w 11734"/>
                  <a:gd name="T53" fmla="*/ 10667 h 11734"/>
                  <a:gd name="T54" fmla="*/ 10667 w 11734"/>
                  <a:gd name="T55" fmla="*/ 2402 h 11734"/>
                  <a:gd name="T56" fmla="*/ 9600 w 11734"/>
                  <a:gd name="T57" fmla="*/ 2134 h 11734"/>
                  <a:gd name="T58" fmla="*/ 2134 w 11734"/>
                  <a:gd name="T59" fmla="*/ 5067 h 11734"/>
                  <a:gd name="T60" fmla="*/ 8267 w 11734"/>
                  <a:gd name="T61" fmla="*/ 4534 h 11734"/>
                  <a:gd name="T62" fmla="*/ 8267 w 11734"/>
                  <a:gd name="T63" fmla="*/ 5600 h 11734"/>
                  <a:gd name="T64" fmla="*/ 2667 w 11734"/>
                  <a:gd name="T65" fmla="*/ 7467 h 11734"/>
                  <a:gd name="T66" fmla="*/ 2667 w 11734"/>
                  <a:gd name="T67" fmla="*/ 6400 h 11734"/>
                  <a:gd name="T68" fmla="*/ 9600 w 11734"/>
                  <a:gd name="T69" fmla="*/ 6934 h 11734"/>
                  <a:gd name="T70" fmla="*/ 2667 w 11734"/>
                  <a:gd name="T71" fmla="*/ 7467 h 11734"/>
                  <a:gd name="T72" fmla="*/ 2134 w 11734"/>
                  <a:gd name="T73" fmla="*/ 8800 h 11734"/>
                  <a:gd name="T74" fmla="*/ 6400 w 11734"/>
                  <a:gd name="T75" fmla="*/ 8267 h 11734"/>
                  <a:gd name="T76" fmla="*/ 6400 w 11734"/>
                  <a:gd name="T77" fmla="*/ 93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734" h="11734">
                    <a:moveTo>
                      <a:pt x="9600" y="1067"/>
                    </a:moveTo>
                    <a:lnTo>
                      <a:pt x="10398" y="1067"/>
                    </a:lnTo>
                    <a:cubicBezTo>
                      <a:pt x="11136" y="1067"/>
                      <a:pt x="11734" y="1665"/>
                      <a:pt x="11734" y="2402"/>
                    </a:cubicBezTo>
                    <a:lnTo>
                      <a:pt x="11734" y="10398"/>
                    </a:lnTo>
                    <a:cubicBezTo>
                      <a:pt x="11734" y="11136"/>
                      <a:pt x="11136" y="11734"/>
                      <a:pt x="10398" y="11734"/>
                    </a:cubicBezTo>
                    <a:lnTo>
                      <a:pt x="1336" y="11734"/>
                    </a:lnTo>
                    <a:cubicBezTo>
                      <a:pt x="598" y="11734"/>
                      <a:pt x="0" y="11136"/>
                      <a:pt x="0" y="10398"/>
                    </a:cubicBezTo>
                    <a:lnTo>
                      <a:pt x="0" y="2402"/>
                    </a:lnTo>
                    <a:cubicBezTo>
                      <a:pt x="0" y="1665"/>
                      <a:pt x="598" y="1067"/>
                      <a:pt x="1336" y="1067"/>
                    </a:cubicBezTo>
                    <a:lnTo>
                      <a:pt x="2134" y="1067"/>
                    </a:lnTo>
                    <a:lnTo>
                      <a:pt x="2134" y="534"/>
                    </a:lnTo>
                    <a:cubicBezTo>
                      <a:pt x="2134" y="239"/>
                      <a:pt x="2372" y="0"/>
                      <a:pt x="2667" y="0"/>
                    </a:cubicBezTo>
                    <a:cubicBezTo>
                      <a:pt x="2962" y="0"/>
                      <a:pt x="3200" y="239"/>
                      <a:pt x="3200" y="534"/>
                    </a:cubicBezTo>
                    <a:lnTo>
                      <a:pt x="3200" y="1067"/>
                    </a:lnTo>
                    <a:lnTo>
                      <a:pt x="4267" y="1067"/>
                    </a:lnTo>
                    <a:lnTo>
                      <a:pt x="4267" y="534"/>
                    </a:lnTo>
                    <a:cubicBezTo>
                      <a:pt x="4267" y="239"/>
                      <a:pt x="4506" y="0"/>
                      <a:pt x="4800" y="0"/>
                    </a:cubicBezTo>
                    <a:cubicBezTo>
                      <a:pt x="5095" y="0"/>
                      <a:pt x="5334" y="239"/>
                      <a:pt x="5334" y="534"/>
                    </a:cubicBezTo>
                    <a:lnTo>
                      <a:pt x="5334" y="1067"/>
                    </a:lnTo>
                    <a:lnTo>
                      <a:pt x="6400" y="1067"/>
                    </a:lnTo>
                    <a:lnTo>
                      <a:pt x="6400" y="534"/>
                    </a:lnTo>
                    <a:cubicBezTo>
                      <a:pt x="6400" y="239"/>
                      <a:pt x="6639" y="0"/>
                      <a:pt x="6934" y="0"/>
                    </a:cubicBezTo>
                    <a:cubicBezTo>
                      <a:pt x="7228" y="0"/>
                      <a:pt x="7467" y="239"/>
                      <a:pt x="7467" y="534"/>
                    </a:cubicBezTo>
                    <a:lnTo>
                      <a:pt x="7467" y="1067"/>
                    </a:lnTo>
                    <a:lnTo>
                      <a:pt x="8534" y="1067"/>
                    </a:lnTo>
                    <a:lnTo>
                      <a:pt x="8534" y="534"/>
                    </a:lnTo>
                    <a:cubicBezTo>
                      <a:pt x="8534" y="239"/>
                      <a:pt x="8772" y="0"/>
                      <a:pt x="9067" y="0"/>
                    </a:cubicBezTo>
                    <a:cubicBezTo>
                      <a:pt x="9362" y="0"/>
                      <a:pt x="9600" y="239"/>
                      <a:pt x="9600" y="534"/>
                    </a:cubicBezTo>
                    <a:lnTo>
                      <a:pt x="9600" y="1067"/>
                    </a:lnTo>
                    <a:close/>
                    <a:moveTo>
                      <a:pt x="9600" y="2134"/>
                    </a:moveTo>
                    <a:lnTo>
                      <a:pt x="9600" y="2667"/>
                    </a:lnTo>
                    <a:cubicBezTo>
                      <a:pt x="9600" y="2962"/>
                      <a:pt x="9362" y="3200"/>
                      <a:pt x="9067" y="3200"/>
                    </a:cubicBezTo>
                    <a:cubicBezTo>
                      <a:pt x="8772" y="3200"/>
                      <a:pt x="8534" y="2962"/>
                      <a:pt x="8534" y="2667"/>
                    </a:cubicBezTo>
                    <a:lnTo>
                      <a:pt x="8534" y="2134"/>
                    </a:lnTo>
                    <a:lnTo>
                      <a:pt x="7467" y="2134"/>
                    </a:lnTo>
                    <a:lnTo>
                      <a:pt x="7467" y="2667"/>
                    </a:lnTo>
                    <a:cubicBezTo>
                      <a:pt x="7467" y="2962"/>
                      <a:pt x="7228" y="3200"/>
                      <a:pt x="6934" y="3200"/>
                    </a:cubicBezTo>
                    <a:cubicBezTo>
                      <a:pt x="6639" y="3200"/>
                      <a:pt x="6400" y="2962"/>
                      <a:pt x="6400" y="2667"/>
                    </a:cubicBezTo>
                    <a:lnTo>
                      <a:pt x="6400" y="2134"/>
                    </a:lnTo>
                    <a:lnTo>
                      <a:pt x="5334" y="2134"/>
                    </a:lnTo>
                    <a:lnTo>
                      <a:pt x="5334" y="2667"/>
                    </a:lnTo>
                    <a:cubicBezTo>
                      <a:pt x="5334" y="2962"/>
                      <a:pt x="5095" y="3200"/>
                      <a:pt x="4800" y="3200"/>
                    </a:cubicBezTo>
                    <a:cubicBezTo>
                      <a:pt x="4506" y="3200"/>
                      <a:pt x="4267" y="2962"/>
                      <a:pt x="4267" y="2667"/>
                    </a:cubicBezTo>
                    <a:lnTo>
                      <a:pt x="4267" y="2134"/>
                    </a:lnTo>
                    <a:lnTo>
                      <a:pt x="3200" y="2134"/>
                    </a:lnTo>
                    <a:lnTo>
                      <a:pt x="3200" y="2667"/>
                    </a:lnTo>
                    <a:cubicBezTo>
                      <a:pt x="3200" y="2962"/>
                      <a:pt x="2962" y="3200"/>
                      <a:pt x="2667" y="3200"/>
                    </a:cubicBezTo>
                    <a:cubicBezTo>
                      <a:pt x="2372" y="3200"/>
                      <a:pt x="2134" y="2962"/>
                      <a:pt x="2134" y="2667"/>
                    </a:cubicBezTo>
                    <a:lnTo>
                      <a:pt x="2134" y="2134"/>
                    </a:lnTo>
                    <a:lnTo>
                      <a:pt x="1336" y="2134"/>
                    </a:lnTo>
                    <a:cubicBezTo>
                      <a:pt x="1187" y="2134"/>
                      <a:pt x="1067" y="2254"/>
                      <a:pt x="1067" y="2402"/>
                    </a:cubicBezTo>
                    <a:lnTo>
                      <a:pt x="1067" y="10398"/>
                    </a:lnTo>
                    <a:cubicBezTo>
                      <a:pt x="1067" y="10547"/>
                      <a:pt x="1187" y="10667"/>
                      <a:pt x="1336" y="10667"/>
                    </a:cubicBezTo>
                    <a:lnTo>
                      <a:pt x="10398" y="10667"/>
                    </a:lnTo>
                    <a:cubicBezTo>
                      <a:pt x="10547" y="10667"/>
                      <a:pt x="10667" y="10547"/>
                      <a:pt x="10667" y="10398"/>
                    </a:cubicBezTo>
                    <a:lnTo>
                      <a:pt x="10667" y="2402"/>
                    </a:lnTo>
                    <a:cubicBezTo>
                      <a:pt x="10667" y="2254"/>
                      <a:pt x="10547" y="2134"/>
                      <a:pt x="10398" y="2134"/>
                    </a:cubicBezTo>
                    <a:lnTo>
                      <a:pt x="9600" y="2134"/>
                    </a:lnTo>
                    <a:close/>
                    <a:moveTo>
                      <a:pt x="2667" y="5600"/>
                    </a:moveTo>
                    <a:cubicBezTo>
                      <a:pt x="2372" y="5600"/>
                      <a:pt x="2134" y="5362"/>
                      <a:pt x="2134" y="5067"/>
                    </a:cubicBezTo>
                    <a:cubicBezTo>
                      <a:pt x="2134" y="4772"/>
                      <a:pt x="2372" y="4534"/>
                      <a:pt x="2667" y="4534"/>
                    </a:cubicBezTo>
                    <a:lnTo>
                      <a:pt x="8267" y="4534"/>
                    </a:lnTo>
                    <a:cubicBezTo>
                      <a:pt x="8562" y="4534"/>
                      <a:pt x="8800" y="4772"/>
                      <a:pt x="8800" y="5067"/>
                    </a:cubicBezTo>
                    <a:cubicBezTo>
                      <a:pt x="8800" y="5362"/>
                      <a:pt x="8562" y="5600"/>
                      <a:pt x="8267" y="5600"/>
                    </a:cubicBezTo>
                    <a:lnTo>
                      <a:pt x="2667" y="5600"/>
                    </a:lnTo>
                    <a:close/>
                    <a:moveTo>
                      <a:pt x="2667" y="7467"/>
                    </a:moveTo>
                    <a:cubicBezTo>
                      <a:pt x="2372" y="7467"/>
                      <a:pt x="2134" y="7228"/>
                      <a:pt x="2134" y="6934"/>
                    </a:cubicBezTo>
                    <a:cubicBezTo>
                      <a:pt x="2134" y="6639"/>
                      <a:pt x="2372" y="6400"/>
                      <a:pt x="2667" y="6400"/>
                    </a:cubicBezTo>
                    <a:lnTo>
                      <a:pt x="9067" y="6400"/>
                    </a:lnTo>
                    <a:cubicBezTo>
                      <a:pt x="9362" y="6400"/>
                      <a:pt x="9600" y="6639"/>
                      <a:pt x="9600" y="6934"/>
                    </a:cubicBezTo>
                    <a:cubicBezTo>
                      <a:pt x="9600" y="7228"/>
                      <a:pt x="9362" y="7467"/>
                      <a:pt x="9067" y="7467"/>
                    </a:cubicBezTo>
                    <a:lnTo>
                      <a:pt x="2667" y="7467"/>
                    </a:lnTo>
                    <a:close/>
                    <a:moveTo>
                      <a:pt x="2667" y="9334"/>
                    </a:moveTo>
                    <a:cubicBezTo>
                      <a:pt x="2372" y="9334"/>
                      <a:pt x="2134" y="9095"/>
                      <a:pt x="2134" y="8800"/>
                    </a:cubicBezTo>
                    <a:cubicBezTo>
                      <a:pt x="2134" y="8506"/>
                      <a:pt x="2372" y="8267"/>
                      <a:pt x="2667" y="8267"/>
                    </a:cubicBezTo>
                    <a:lnTo>
                      <a:pt x="6400" y="8267"/>
                    </a:lnTo>
                    <a:cubicBezTo>
                      <a:pt x="6695" y="8267"/>
                      <a:pt x="6934" y="8506"/>
                      <a:pt x="6934" y="8800"/>
                    </a:cubicBezTo>
                    <a:cubicBezTo>
                      <a:pt x="6934" y="9095"/>
                      <a:pt x="6695" y="9334"/>
                      <a:pt x="6400" y="9334"/>
                    </a:cubicBezTo>
                    <a:lnTo>
                      <a:pt x="2667" y="9334"/>
                    </a:lnTo>
                    <a:close/>
                  </a:path>
                </a:pathLst>
              </a:custGeom>
              <a:solidFill>
                <a:schemeClr val="bg1"/>
              </a:solidFill>
              <a:ln>
                <a:noFill/>
              </a:ln>
            </p:spPr>
            <p:txBody>
              <a:bodyPr/>
              <a:lstStyle/>
              <a:p>
                <a:endParaRPr lang="zh-CN" altLang="en-US" dirty="0">
                  <a:cs typeface="+mn-ea"/>
                  <a:sym typeface="+mn-lt"/>
                </a:endParaRPr>
              </a:p>
            </p:txBody>
          </p:sp>
          <p:grpSp>
            <p:nvGrpSpPr>
              <p:cNvPr id="43" name="组合 42"/>
              <p:cNvGrpSpPr/>
              <p:nvPr/>
            </p:nvGrpSpPr>
            <p:grpSpPr>
              <a:xfrm>
                <a:off x="7144343" y="3030158"/>
                <a:ext cx="4628515" cy="1475854"/>
                <a:chOff x="6967530" y="3008568"/>
                <a:chExt cx="4628515" cy="1475854"/>
              </a:xfrm>
            </p:grpSpPr>
            <p:sp>
              <p:nvSpPr>
                <p:cNvPr id="44" name="9"/>
                <p:cNvSpPr/>
                <p:nvPr/>
              </p:nvSpPr>
              <p:spPr>
                <a:xfrm>
                  <a:off x="6967530" y="3008568"/>
                  <a:ext cx="4628515" cy="70675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cs typeface="+mn-ea"/>
                      <a:sym typeface="+mn-lt"/>
                    </a:rPr>
                    <a:t>Accurate and easy to learn, measu</a:t>
                  </a:r>
                  <a:r>
                    <a:rPr kumimoji="0" lang="en-US" altLang="zh-CN" sz="2000" b="1" i="0" u="none" strike="noStrike" kern="1200" cap="none" spc="0" normalizeH="0" baseline="0" noProof="0" dirty="0">
                      <a:ln>
                        <a:noFill/>
                      </a:ln>
                      <a:solidFill>
                        <a:schemeClr val="bg1"/>
                      </a:solidFill>
                      <a:effectLst/>
                      <a:uLnTx/>
                      <a:uFillTx/>
                      <a:cs typeface="+mn-ea"/>
                      <a:sym typeface="+mn-lt"/>
                    </a:rPr>
                    <a:t>r</a:t>
                  </a:r>
                  <a:r>
                    <a:rPr kumimoji="0" lang="zh-CN" altLang="en-US" sz="2000" b="1" i="0" u="none" strike="noStrike" kern="1200" cap="none" spc="0" normalizeH="0" baseline="0" noProof="0" dirty="0">
                      <a:ln>
                        <a:noFill/>
                      </a:ln>
                      <a:solidFill>
                        <a:schemeClr val="bg1"/>
                      </a:solidFill>
                      <a:effectLst/>
                      <a:uLnTx/>
                      <a:uFillTx/>
                      <a:cs typeface="+mn-ea"/>
                      <a:sym typeface="+mn-lt"/>
                    </a:rPr>
                    <a:t>able</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45" name="10"/>
                <p:cNvSpPr/>
                <p:nvPr/>
              </p:nvSpPr>
              <p:spPr>
                <a:xfrm>
                  <a:off x="7280585" y="3582722"/>
                  <a:ext cx="4210050" cy="9017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1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cs typeface="+mn-ea"/>
                      <a:sym typeface="+mn-lt"/>
                    </a:rPr>
                    <a:t>We test with </a:t>
                  </a:r>
                  <a:r>
                    <a:rPr kumimoji="0" lang="en-US" altLang="zh-CN" sz="1200" b="0" i="0" u="none" strike="noStrike" kern="1200" cap="none" spc="0" normalizeH="0" baseline="0" noProof="0" dirty="0">
                      <a:ln>
                        <a:noFill/>
                      </a:ln>
                      <a:solidFill>
                        <a:schemeClr val="bg1"/>
                      </a:solidFill>
                      <a:effectLst/>
                      <a:uLnTx/>
                      <a:uFillTx/>
                      <a:cs typeface="+mn-ea"/>
                      <a:sym typeface="+mn-lt"/>
                    </a:rPr>
                    <a:t>7</a:t>
                  </a:r>
                  <a:r>
                    <a:rPr kumimoji="0" lang="zh-CN" altLang="en-US" sz="1200" b="0" i="0" u="none" strike="noStrike" kern="1200" cap="none" spc="0" normalizeH="0" baseline="0" noProof="0" dirty="0">
                      <a:ln>
                        <a:noFill/>
                      </a:ln>
                      <a:solidFill>
                        <a:schemeClr val="bg1"/>
                      </a:solidFill>
                      <a:effectLst/>
                      <a:uLnTx/>
                      <a:uFillTx/>
                      <a:cs typeface="+mn-ea"/>
                      <a:sym typeface="+mn-lt"/>
                    </a:rPr>
                    <a:t> synthetic chat samples, record side-by-side comparison of time consumption and error count between manual workflow and our system. The UI is </a:t>
                  </a:r>
                  <a:endParaRPr kumimoji="0" lang="zh-CN" altLang="en-US" sz="1200" b="0" i="0" u="none" strike="noStrike" kern="1200" cap="none" spc="0" normalizeH="0" baseline="0" noProof="0" dirty="0">
                    <a:ln>
                      <a:noFill/>
                    </a:ln>
                    <a:solidFill>
                      <a:schemeClr val="bg1"/>
                    </a:solidFill>
                    <a:effectLst/>
                    <a:uLnTx/>
                    <a:uFillTx/>
                    <a:cs typeface="+mn-ea"/>
                    <a:sym typeface="+mn-lt"/>
                  </a:endParaRPr>
                </a:p>
                <a:p>
                  <a:pPr marL="0" marR="0" lvl="0" indent="0" algn="l" defTabSz="914400" rtl="0" eaLnBrk="1" fontAlgn="auto" latinLnBrk="1" hangingPunct="1">
                    <a:lnSpc>
                      <a:spcPct val="11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cs typeface="+mn-ea"/>
                      <a:sym typeface="+mn-lt"/>
                    </a:rPr>
                    <a:t>simplified for non-technical merchants.</a:t>
                  </a:r>
                  <a:endParaRPr kumimoji="0" lang="zh-CN" altLang="en-US" sz="1200" b="0" i="0" u="none" strike="noStrike" kern="1200" cap="none" spc="0" normalizeH="0" baseline="0" noProof="0" dirty="0">
                    <a:ln>
                      <a:noFill/>
                    </a:ln>
                    <a:solidFill>
                      <a:schemeClr val="bg1"/>
                    </a:solidFill>
                    <a:effectLst/>
                    <a:uLnTx/>
                    <a:uFillTx/>
                    <a:cs typeface="+mn-ea"/>
                    <a:sym typeface="+mn-lt"/>
                  </a:endParaRPr>
                </a:p>
              </p:txBody>
            </p:sp>
          </p:grpSp>
        </p:grpSp>
        <p:grpSp>
          <p:nvGrpSpPr>
            <p:cNvPr id="35" name="Group 98"/>
            <p:cNvGrpSpPr/>
            <p:nvPr/>
          </p:nvGrpSpPr>
          <p:grpSpPr>
            <a:xfrm>
              <a:off x="6210300" y="5035027"/>
              <a:ext cx="5671778" cy="1576008"/>
              <a:chOff x="6210300" y="2997835"/>
              <a:chExt cx="5671778" cy="1576008"/>
            </a:xfrm>
          </p:grpSpPr>
          <p:sp>
            <p:nvSpPr>
              <p:cNvPr id="36" name="矩形 35"/>
              <p:cNvSpPr/>
              <p:nvPr/>
            </p:nvSpPr>
            <p:spPr>
              <a:xfrm>
                <a:off x="6210300" y="2997835"/>
                <a:ext cx="5562599" cy="1562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iconfont-11592-5504371"/>
              <p:cNvSpPr>
                <a:spLocks noChangeAspect="1"/>
              </p:cNvSpPr>
              <p:nvPr/>
            </p:nvSpPr>
            <p:spPr bwMode="auto">
              <a:xfrm>
                <a:off x="6534108" y="3474538"/>
                <a:ext cx="609685" cy="608691"/>
              </a:xfrm>
              <a:custGeom>
                <a:avLst/>
                <a:gdLst>
                  <a:gd name="connsiteX0" fmla="*/ 64144 w 606580"/>
                  <a:gd name="connsiteY0" fmla="*/ 461145 h 605592"/>
                  <a:gd name="connsiteX1" fmla="*/ 136474 w 606580"/>
                  <a:gd name="connsiteY1" fmla="*/ 461145 h 605592"/>
                  <a:gd name="connsiteX2" fmla="*/ 136474 w 606580"/>
                  <a:gd name="connsiteY2" fmla="*/ 605592 h 605592"/>
                  <a:gd name="connsiteX3" fmla="*/ 64144 w 606580"/>
                  <a:gd name="connsiteY3" fmla="*/ 605592 h 605592"/>
                  <a:gd name="connsiteX4" fmla="*/ 181706 w 606580"/>
                  <a:gd name="connsiteY4" fmla="*/ 378583 h 605592"/>
                  <a:gd name="connsiteX5" fmla="*/ 254036 w 606580"/>
                  <a:gd name="connsiteY5" fmla="*/ 378583 h 605592"/>
                  <a:gd name="connsiteX6" fmla="*/ 254036 w 606580"/>
                  <a:gd name="connsiteY6" fmla="*/ 605592 h 605592"/>
                  <a:gd name="connsiteX7" fmla="*/ 181706 w 606580"/>
                  <a:gd name="connsiteY7" fmla="*/ 605592 h 605592"/>
                  <a:gd name="connsiteX8" fmla="*/ 299268 w 606580"/>
                  <a:gd name="connsiteY8" fmla="*/ 285719 h 605592"/>
                  <a:gd name="connsiteX9" fmla="*/ 371598 w 606580"/>
                  <a:gd name="connsiteY9" fmla="*/ 285719 h 605592"/>
                  <a:gd name="connsiteX10" fmla="*/ 371598 w 606580"/>
                  <a:gd name="connsiteY10" fmla="*/ 605592 h 605592"/>
                  <a:gd name="connsiteX11" fmla="*/ 299268 w 606580"/>
                  <a:gd name="connsiteY11" fmla="*/ 605592 h 605592"/>
                  <a:gd name="connsiteX12" fmla="*/ 416759 w 606580"/>
                  <a:gd name="connsiteY12" fmla="*/ 192785 h 605592"/>
                  <a:gd name="connsiteX13" fmla="*/ 489018 w 606580"/>
                  <a:gd name="connsiteY13" fmla="*/ 192785 h 605592"/>
                  <a:gd name="connsiteX14" fmla="*/ 489018 w 606580"/>
                  <a:gd name="connsiteY14" fmla="*/ 605592 h 605592"/>
                  <a:gd name="connsiteX15" fmla="*/ 416759 w 606580"/>
                  <a:gd name="connsiteY15" fmla="*/ 605592 h 605592"/>
                  <a:gd name="connsiteX16" fmla="*/ 534250 w 606580"/>
                  <a:gd name="connsiteY16" fmla="*/ 130899 h 605592"/>
                  <a:gd name="connsiteX17" fmla="*/ 606580 w 606580"/>
                  <a:gd name="connsiteY17" fmla="*/ 130899 h 605592"/>
                  <a:gd name="connsiteX18" fmla="*/ 606580 w 606580"/>
                  <a:gd name="connsiteY18" fmla="*/ 605592 h 605592"/>
                  <a:gd name="connsiteX19" fmla="*/ 534250 w 606580"/>
                  <a:gd name="connsiteY19" fmla="*/ 605592 h 605592"/>
                  <a:gd name="connsiteX20" fmla="*/ 496145 w 606580"/>
                  <a:gd name="connsiteY20" fmla="*/ 0 h 605592"/>
                  <a:gd name="connsiteX21" fmla="*/ 466529 w 606580"/>
                  <a:gd name="connsiteY21" fmla="*/ 75920 h 605592"/>
                  <a:gd name="connsiteX22" fmla="*/ 453345 w 606580"/>
                  <a:gd name="connsiteY22" fmla="*/ 59605 h 605592"/>
                  <a:gd name="connsiteX23" fmla="*/ 23767 w 606580"/>
                  <a:gd name="connsiteY23" fmla="*/ 404904 h 605592"/>
                  <a:gd name="connsiteX24" fmla="*/ 0 w 606580"/>
                  <a:gd name="connsiteY24" fmla="*/ 375426 h 605592"/>
                  <a:gd name="connsiteX25" fmla="*/ 429671 w 606580"/>
                  <a:gd name="connsiteY25" fmla="*/ 30034 h 605592"/>
                  <a:gd name="connsiteX26" fmla="*/ 415466 w 606580"/>
                  <a:gd name="connsiteY26" fmla="*/ 12329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6580" h="605592">
                    <a:moveTo>
                      <a:pt x="64144" y="461145"/>
                    </a:moveTo>
                    <a:lnTo>
                      <a:pt x="136474" y="461145"/>
                    </a:lnTo>
                    <a:lnTo>
                      <a:pt x="136474" y="605592"/>
                    </a:lnTo>
                    <a:lnTo>
                      <a:pt x="64144" y="605592"/>
                    </a:lnTo>
                    <a:close/>
                    <a:moveTo>
                      <a:pt x="181706" y="378583"/>
                    </a:moveTo>
                    <a:lnTo>
                      <a:pt x="254036" y="378583"/>
                    </a:lnTo>
                    <a:lnTo>
                      <a:pt x="254036" y="605592"/>
                    </a:lnTo>
                    <a:lnTo>
                      <a:pt x="181706" y="605592"/>
                    </a:lnTo>
                    <a:close/>
                    <a:moveTo>
                      <a:pt x="299268" y="285719"/>
                    </a:moveTo>
                    <a:lnTo>
                      <a:pt x="371598" y="285719"/>
                    </a:lnTo>
                    <a:lnTo>
                      <a:pt x="371598" y="605592"/>
                    </a:lnTo>
                    <a:lnTo>
                      <a:pt x="299268" y="605592"/>
                    </a:lnTo>
                    <a:close/>
                    <a:moveTo>
                      <a:pt x="416759" y="192785"/>
                    </a:moveTo>
                    <a:lnTo>
                      <a:pt x="489018" y="192785"/>
                    </a:lnTo>
                    <a:lnTo>
                      <a:pt x="489018" y="605592"/>
                    </a:lnTo>
                    <a:lnTo>
                      <a:pt x="416759" y="605592"/>
                    </a:lnTo>
                    <a:close/>
                    <a:moveTo>
                      <a:pt x="534250" y="130899"/>
                    </a:moveTo>
                    <a:lnTo>
                      <a:pt x="606580" y="130899"/>
                    </a:lnTo>
                    <a:lnTo>
                      <a:pt x="606580" y="605592"/>
                    </a:lnTo>
                    <a:lnTo>
                      <a:pt x="534250" y="605592"/>
                    </a:lnTo>
                    <a:close/>
                    <a:moveTo>
                      <a:pt x="496145" y="0"/>
                    </a:moveTo>
                    <a:lnTo>
                      <a:pt x="466529" y="75920"/>
                    </a:lnTo>
                    <a:lnTo>
                      <a:pt x="453345" y="59605"/>
                    </a:lnTo>
                    <a:lnTo>
                      <a:pt x="23767" y="404904"/>
                    </a:lnTo>
                    <a:lnTo>
                      <a:pt x="0" y="375426"/>
                    </a:lnTo>
                    <a:lnTo>
                      <a:pt x="429671" y="30034"/>
                    </a:lnTo>
                    <a:lnTo>
                      <a:pt x="415466" y="12329"/>
                    </a:lnTo>
                    <a:close/>
                  </a:path>
                </a:pathLst>
              </a:custGeom>
              <a:solidFill>
                <a:schemeClr val="bg1"/>
              </a:solidFill>
              <a:ln>
                <a:noFill/>
              </a:ln>
            </p:spPr>
            <p:txBody>
              <a:bodyPr/>
              <a:lstStyle/>
              <a:p>
                <a:endParaRPr lang="zh-CN" altLang="en-US" dirty="0">
                  <a:cs typeface="+mn-ea"/>
                  <a:sym typeface="+mn-lt"/>
                </a:endParaRPr>
              </a:p>
            </p:txBody>
          </p:sp>
          <p:grpSp>
            <p:nvGrpSpPr>
              <p:cNvPr id="38" name="组合 37"/>
              <p:cNvGrpSpPr/>
              <p:nvPr/>
            </p:nvGrpSpPr>
            <p:grpSpPr>
              <a:xfrm>
                <a:off x="7351988" y="3075878"/>
                <a:ext cx="4530090" cy="1497965"/>
                <a:chOff x="7175175" y="3054288"/>
                <a:chExt cx="4530090" cy="1497965"/>
              </a:xfrm>
            </p:grpSpPr>
            <p:sp>
              <p:nvSpPr>
                <p:cNvPr id="39" name="9"/>
                <p:cNvSpPr/>
                <p:nvPr/>
              </p:nvSpPr>
              <p:spPr>
                <a:xfrm>
                  <a:off x="7175175" y="3054288"/>
                  <a:ext cx="4315460" cy="3987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cs typeface="+mn-ea"/>
                      <a:sym typeface="+mn-lt"/>
                    </a:rPr>
                    <a:t>Orbyte compatible &amp; reusable</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40" name="10"/>
                <p:cNvSpPr/>
                <p:nvPr/>
              </p:nvSpPr>
              <p:spPr>
                <a:xfrm>
                  <a:off x="7280585" y="3383853"/>
                  <a:ext cx="4424680" cy="1168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Merchants configure their own menu, pricing, cut-off time and approver. We demonstrate </a:t>
                  </a:r>
                  <a:endParaRPr kumimoji="0" lang="zh-CN" altLang="en-US" sz="1400" b="0" i="0" u="none" strike="noStrike" kern="1200" cap="none" spc="0" normalizeH="0" baseline="0" noProof="0" dirty="0">
                    <a:ln>
                      <a:noFill/>
                    </a:ln>
                    <a:solidFill>
                      <a:schemeClr val="bg1"/>
                    </a:solidFill>
                    <a:effectLst/>
                    <a:uLnTx/>
                    <a:uFillTx/>
                    <a:cs typeface="+mn-ea"/>
                    <a:sym typeface="+mn-lt"/>
                  </a:endParaRPr>
                </a:p>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switching between multiple simulated merchants to prove the same tool can serve different small businesses.</a:t>
                  </a:r>
                  <a:endParaRPr kumimoji="0" lang="zh-CN" altLang="en-US" sz="1400" b="0" i="0" u="none" strike="noStrike" kern="1200" cap="none" spc="0" normalizeH="0" baseline="0" noProof="0" dirty="0">
                    <a:ln>
                      <a:noFill/>
                    </a:ln>
                    <a:solidFill>
                      <a:schemeClr val="bg1"/>
                    </a:solidFill>
                    <a:effectLst/>
                    <a:uLnTx/>
                    <a:uFillTx/>
                    <a:cs typeface="+mn-ea"/>
                    <a:sym typeface="+mn-lt"/>
                  </a:endParaRPr>
                </a:p>
              </p:txBody>
            </p:sp>
          </p:grpSp>
        </p:grpSp>
      </p:grpSp>
      <p:sp>
        <p:nvSpPr>
          <p:cNvPr id="31" name="文本框 30"/>
          <p:cNvSpPr txBox="1"/>
          <p:nvPr/>
        </p:nvSpPr>
        <p:spPr>
          <a:xfrm>
            <a:off x="1069340" y="195580"/>
            <a:ext cx="4805680" cy="583565"/>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3200" b="1" i="0" u="none" strike="noStrike" cap="none" spc="0" normalizeH="0" baseline="0">
                <a:ln>
                  <a:noFill/>
                </a:ln>
                <a:solidFill>
                  <a:srgbClr val="000000">
                    <a:lumMod val="85000"/>
                    <a:lumOff val="15000"/>
                  </a:srgbClr>
                </a:solidFill>
                <a:effectLst/>
                <a:uLnTx/>
                <a:uFillTx/>
                <a:cs typeface="+mn-ea"/>
              </a:defRPr>
            </a:lvl1pPr>
          </a:lstStyle>
          <a:p>
            <a:r>
              <a:rPr lang="en-US" altLang="zh-CN" dirty="0">
                <a:sym typeface="+mn-lt"/>
              </a:rPr>
              <a:t>Design </a:t>
            </a:r>
            <a:r>
              <a:rPr lang="en-US" altLang="zh-CN" dirty="0">
                <a:sym typeface="+mn-lt"/>
              </a:rPr>
              <a:t>conception</a:t>
            </a:r>
            <a:endParaRPr lang="en-US" altLang="zh-CN" dirty="0">
              <a:sym typeface="+mn-lt"/>
            </a:endParaRPr>
          </a:p>
        </p:txBody>
      </p:sp>
      <p:grpSp>
        <p:nvGrpSpPr>
          <p:cNvPr id="2" name="组合 1"/>
          <p:cNvGrpSpPr/>
          <p:nvPr/>
        </p:nvGrpSpPr>
        <p:grpSpPr>
          <a:xfrm>
            <a:off x="6198870" y="3064510"/>
            <a:ext cx="5562599" cy="3528807"/>
            <a:chOff x="6210300" y="3025140"/>
            <a:chExt cx="5562599" cy="3528807"/>
          </a:xfrm>
        </p:grpSpPr>
        <p:grpSp>
          <p:nvGrpSpPr>
            <p:cNvPr id="3" name="组合 2"/>
            <p:cNvGrpSpPr/>
            <p:nvPr/>
          </p:nvGrpSpPr>
          <p:grpSpPr>
            <a:xfrm>
              <a:off x="6210300" y="3025140"/>
              <a:ext cx="5562599" cy="1562100"/>
              <a:chOff x="6210300" y="3025140"/>
              <a:chExt cx="5562599" cy="1562100"/>
            </a:xfrm>
          </p:grpSpPr>
          <p:sp>
            <p:nvSpPr>
              <p:cNvPr id="4" name="矩形 3"/>
              <p:cNvSpPr/>
              <p:nvPr>
                <p:custDataLst>
                  <p:tags r:id="rId1"/>
                </p:custDataLst>
              </p:nvPr>
            </p:nvSpPr>
            <p:spPr>
              <a:xfrm>
                <a:off x="6210300" y="3025140"/>
                <a:ext cx="5562599" cy="156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 name="iconfont-11592-5504371"/>
              <p:cNvSpPr>
                <a:spLocks noChangeAspect="1"/>
              </p:cNvSpPr>
              <p:nvPr>
                <p:custDataLst>
                  <p:tags r:id="rId2"/>
                </p:custDataLst>
              </p:nvPr>
            </p:nvSpPr>
            <p:spPr bwMode="auto">
              <a:xfrm>
                <a:off x="6534108" y="3501347"/>
                <a:ext cx="609685" cy="609685"/>
              </a:xfrm>
              <a:custGeom>
                <a:avLst/>
                <a:gdLst>
                  <a:gd name="T0" fmla="*/ 10398 w 11734"/>
                  <a:gd name="T1" fmla="*/ 1067 h 11734"/>
                  <a:gd name="T2" fmla="*/ 11734 w 11734"/>
                  <a:gd name="T3" fmla="*/ 10398 h 11734"/>
                  <a:gd name="T4" fmla="*/ 1336 w 11734"/>
                  <a:gd name="T5" fmla="*/ 11734 h 11734"/>
                  <a:gd name="T6" fmla="*/ 0 w 11734"/>
                  <a:gd name="T7" fmla="*/ 2402 h 11734"/>
                  <a:gd name="T8" fmla="*/ 2134 w 11734"/>
                  <a:gd name="T9" fmla="*/ 1067 h 11734"/>
                  <a:gd name="T10" fmla="*/ 2667 w 11734"/>
                  <a:gd name="T11" fmla="*/ 0 h 11734"/>
                  <a:gd name="T12" fmla="*/ 3200 w 11734"/>
                  <a:gd name="T13" fmla="*/ 1067 h 11734"/>
                  <a:gd name="T14" fmla="*/ 4267 w 11734"/>
                  <a:gd name="T15" fmla="*/ 534 h 11734"/>
                  <a:gd name="T16" fmla="*/ 5334 w 11734"/>
                  <a:gd name="T17" fmla="*/ 534 h 11734"/>
                  <a:gd name="T18" fmla="*/ 6400 w 11734"/>
                  <a:gd name="T19" fmla="*/ 1067 h 11734"/>
                  <a:gd name="T20" fmla="*/ 6934 w 11734"/>
                  <a:gd name="T21" fmla="*/ 0 h 11734"/>
                  <a:gd name="T22" fmla="*/ 7467 w 11734"/>
                  <a:gd name="T23" fmla="*/ 1067 h 11734"/>
                  <a:gd name="T24" fmla="*/ 8534 w 11734"/>
                  <a:gd name="T25" fmla="*/ 534 h 11734"/>
                  <a:gd name="T26" fmla="*/ 9600 w 11734"/>
                  <a:gd name="T27" fmla="*/ 534 h 11734"/>
                  <a:gd name="T28" fmla="*/ 9600 w 11734"/>
                  <a:gd name="T29" fmla="*/ 2134 h 11734"/>
                  <a:gd name="T30" fmla="*/ 9067 w 11734"/>
                  <a:gd name="T31" fmla="*/ 3200 h 11734"/>
                  <a:gd name="T32" fmla="*/ 8534 w 11734"/>
                  <a:gd name="T33" fmla="*/ 2134 h 11734"/>
                  <a:gd name="T34" fmla="*/ 7467 w 11734"/>
                  <a:gd name="T35" fmla="*/ 2667 h 11734"/>
                  <a:gd name="T36" fmla="*/ 6400 w 11734"/>
                  <a:gd name="T37" fmla="*/ 2667 h 11734"/>
                  <a:gd name="T38" fmla="*/ 5334 w 11734"/>
                  <a:gd name="T39" fmla="*/ 2134 h 11734"/>
                  <a:gd name="T40" fmla="*/ 4800 w 11734"/>
                  <a:gd name="T41" fmla="*/ 3200 h 11734"/>
                  <a:gd name="T42" fmla="*/ 4267 w 11734"/>
                  <a:gd name="T43" fmla="*/ 2134 h 11734"/>
                  <a:gd name="T44" fmla="*/ 3200 w 11734"/>
                  <a:gd name="T45" fmla="*/ 2667 h 11734"/>
                  <a:gd name="T46" fmla="*/ 2134 w 11734"/>
                  <a:gd name="T47" fmla="*/ 2667 h 11734"/>
                  <a:gd name="T48" fmla="*/ 1336 w 11734"/>
                  <a:gd name="T49" fmla="*/ 2134 h 11734"/>
                  <a:gd name="T50" fmla="*/ 1067 w 11734"/>
                  <a:gd name="T51" fmla="*/ 10398 h 11734"/>
                  <a:gd name="T52" fmla="*/ 10398 w 11734"/>
                  <a:gd name="T53" fmla="*/ 10667 h 11734"/>
                  <a:gd name="T54" fmla="*/ 10667 w 11734"/>
                  <a:gd name="T55" fmla="*/ 2402 h 11734"/>
                  <a:gd name="T56" fmla="*/ 9600 w 11734"/>
                  <a:gd name="T57" fmla="*/ 2134 h 11734"/>
                  <a:gd name="T58" fmla="*/ 2134 w 11734"/>
                  <a:gd name="T59" fmla="*/ 5067 h 11734"/>
                  <a:gd name="T60" fmla="*/ 8267 w 11734"/>
                  <a:gd name="T61" fmla="*/ 4534 h 11734"/>
                  <a:gd name="T62" fmla="*/ 8267 w 11734"/>
                  <a:gd name="T63" fmla="*/ 5600 h 11734"/>
                  <a:gd name="T64" fmla="*/ 2667 w 11734"/>
                  <a:gd name="T65" fmla="*/ 7467 h 11734"/>
                  <a:gd name="T66" fmla="*/ 2667 w 11734"/>
                  <a:gd name="T67" fmla="*/ 6400 h 11734"/>
                  <a:gd name="T68" fmla="*/ 9600 w 11734"/>
                  <a:gd name="T69" fmla="*/ 6934 h 11734"/>
                  <a:gd name="T70" fmla="*/ 2667 w 11734"/>
                  <a:gd name="T71" fmla="*/ 7467 h 11734"/>
                  <a:gd name="T72" fmla="*/ 2134 w 11734"/>
                  <a:gd name="T73" fmla="*/ 8800 h 11734"/>
                  <a:gd name="T74" fmla="*/ 6400 w 11734"/>
                  <a:gd name="T75" fmla="*/ 8267 h 11734"/>
                  <a:gd name="T76" fmla="*/ 6400 w 11734"/>
                  <a:gd name="T77" fmla="*/ 9334 h 1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734" h="11734">
                    <a:moveTo>
                      <a:pt x="9600" y="1067"/>
                    </a:moveTo>
                    <a:lnTo>
                      <a:pt x="10398" y="1067"/>
                    </a:lnTo>
                    <a:cubicBezTo>
                      <a:pt x="11136" y="1067"/>
                      <a:pt x="11734" y="1665"/>
                      <a:pt x="11734" y="2402"/>
                    </a:cubicBezTo>
                    <a:lnTo>
                      <a:pt x="11734" y="10398"/>
                    </a:lnTo>
                    <a:cubicBezTo>
                      <a:pt x="11734" y="11136"/>
                      <a:pt x="11136" y="11734"/>
                      <a:pt x="10398" y="11734"/>
                    </a:cubicBezTo>
                    <a:lnTo>
                      <a:pt x="1336" y="11734"/>
                    </a:lnTo>
                    <a:cubicBezTo>
                      <a:pt x="598" y="11734"/>
                      <a:pt x="0" y="11136"/>
                      <a:pt x="0" y="10398"/>
                    </a:cubicBezTo>
                    <a:lnTo>
                      <a:pt x="0" y="2402"/>
                    </a:lnTo>
                    <a:cubicBezTo>
                      <a:pt x="0" y="1665"/>
                      <a:pt x="598" y="1067"/>
                      <a:pt x="1336" y="1067"/>
                    </a:cubicBezTo>
                    <a:lnTo>
                      <a:pt x="2134" y="1067"/>
                    </a:lnTo>
                    <a:lnTo>
                      <a:pt x="2134" y="534"/>
                    </a:lnTo>
                    <a:cubicBezTo>
                      <a:pt x="2134" y="239"/>
                      <a:pt x="2372" y="0"/>
                      <a:pt x="2667" y="0"/>
                    </a:cubicBezTo>
                    <a:cubicBezTo>
                      <a:pt x="2962" y="0"/>
                      <a:pt x="3200" y="239"/>
                      <a:pt x="3200" y="534"/>
                    </a:cubicBezTo>
                    <a:lnTo>
                      <a:pt x="3200" y="1067"/>
                    </a:lnTo>
                    <a:lnTo>
                      <a:pt x="4267" y="1067"/>
                    </a:lnTo>
                    <a:lnTo>
                      <a:pt x="4267" y="534"/>
                    </a:lnTo>
                    <a:cubicBezTo>
                      <a:pt x="4267" y="239"/>
                      <a:pt x="4506" y="0"/>
                      <a:pt x="4800" y="0"/>
                    </a:cubicBezTo>
                    <a:cubicBezTo>
                      <a:pt x="5095" y="0"/>
                      <a:pt x="5334" y="239"/>
                      <a:pt x="5334" y="534"/>
                    </a:cubicBezTo>
                    <a:lnTo>
                      <a:pt x="5334" y="1067"/>
                    </a:lnTo>
                    <a:lnTo>
                      <a:pt x="6400" y="1067"/>
                    </a:lnTo>
                    <a:lnTo>
                      <a:pt x="6400" y="534"/>
                    </a:lnTo>
                    <a:cubicBezTo>
                      <a:pt x="6400" y="239"/>
                      <a:pt x="6639" y="0"/>
                      <a:pt x="6934" y="0"/>
                    </a:cubicBezTo>
                    <a:cubicBezTo>
                      <a:pt x="7228" y="0"/>
                      <a:pt x="7467" y="239"/>
                      <a:pt x="7467" y="534"/>
                    </a:cubicBezTo>
                    <a:lnTo>
                      <a:pt x="7467" y="1067"/>
                    </a:lnTo>
                    <a:lnTo>
                      <a:pt x="8534" y="1067"/>
                    </a:lnTo>
                    <a:lnTo>
                      <a:pt x="8534" y="534"/>
                    </a:lnTo>
                    <a:cubicBezTo>
                      <a:pt x="8534" y="239"/>
                      <a:pt x="8772" y="0"/>
                      <a:pt x="9067" y="0"/>
                    </a:cubicBezTo>
                    <a:cubicBezTo>
                      <a:pt x="9362" y="0"/>
                      <a:pt x="9600" y="239"/>
                      <a:pt x="9600" y="534"/>
                    </a:cubicBezTo>
                    <a:lnTo>
                      <a:pt x="9600" y="1067"/>
                    </a:lnTo>
                    <a:close/>
                    <a:moveTo>
                      <a:pt x="9600" y="2134"/>
                    </a:moveTo>
                    <a:lnTo>
                      <a:pt x="9600" y="2667"/>
                    </a:lnTo>
                    <a:cubicBezTo>
                      <a:pt x="9600" y="2962"/>
                      <a:pt x="9362" y="3200"/>
                      <a:pt x="9067" y="3200"/>
                    </a:cubicBezTo>
                    <a:cubicBezTo>
                      <a:pt x="8772" y="3200"/>
                      <a:pt x="8534" y="2962"/>
                      <a:pt x="8534" y="2667"/>
                    </a:cubicBezTo>
                    <a:lnTo>
                      <a:pt x="8534" y="2134"/>
                    </a:lnTo>
                    <a:lnTo>
                      <a:pt x="7467" y="2134"/>
                    </a:lnTo>
                    <a:lnTo>
                      <a:pt x="7467" y="2667"/>
                    </a:lnTo>
                    <a:cubicBezTo>
                      <a:pt x="7467" y="2962"/>
                      <a:pt x="7228" y="3200"/>
                      <a:pt x="6934" y="3200"/>
                    </a:cubicBezTo>
                    <a:cubicBezTo>
                      <a:pt x="6639" y="3200"/>
                      <a:pt x="6400" y="2962"/>
                      <a:pt x="6400" y="2667"/>
                    </a:cubicBezTo>
                    <a:lnTo>
                      <a:pt x="6400" y="2134"/>
                    </a:lnTo>
                    <a:lnTo>
                      <a:pt x="5334" y="2134"/>
                    </a:lnTo>
                    <a:lnTo>
                      <a:pt x="5334" y="2667"/>
                    </a:lnTo>
                    <a:cubicBezTo>
                      <a:pt x="5334" y="2962"/>
                      <a:pt x="5095" y="3200"/>
                      <a:pt x="4800" y="3200"/>
                    </a:cubicBezTo>
                    <a:cubicBezTo>
                      <a:pt x="4506" y="3200"/>
                      <a:pt x="4267" y="2962"/>
                      <a:pt x="4267" y="2667"/>
                    </a:cubicBezTo>
                    <a:lnTo>
                      <a:pt x="4267" y="2134"/>
                    </a:lnTo>
                    <a:lnTo>
                      <a:pt x="3200" y="2134"/>
                    </a:lnTo>
                    <a:lnTo>
                      <a:pt x="3200" y="2667"/>
                    </a:lnTo>
                    <a:cubicBezTo>
                      <a:pt x="3200" y="2962"/>
                      <a:pt x="2962" y="3200"/>
                      <a:pt x="2667" y="3200"/>
                    </a:cubicBezTo>
                    <a:cubicBezTo>
                      <a:pt x="2372" y="3200"/>
                      <a:pt x="2134" y="2962"/>
                      <a:pt x="2134" y="2667"/>
                    </a:cubicBezTo>
                    <a:lnTo>
                      <a:pt x="2134" y="2134"/>
                    </a:lnTo>
                    <a:lnTo>
                      <a:pt x="1336" y="2134"/>
                    </a:lnTo>
                    <a:cubicBezTo>
                      <a:pt x="1187" y="2134"/>
                      <a:pt x="1067" y="2254"/>
                      <a:pt x="1067" y="2402"/>
                    </a:cubicBezTo>
                    <a:lnTo>
                      <a:pt x="1067" y="10398"/>
                    </a:lnTo>
                    <a:cubicBezTo>
                      <a:pt x="1067" y="10547"/>
                      <a:pt x="1187" y="10667"/>
                      <a:pt x="1336" y="10667"/>
                    </a:cubicBezTo>
                    <a:lnTo>
                      <a:pt x="10398" y="10667"/>
                    </a:lnTo>
                    <a:cubicBezTo>
                      <a:pt x="10547" y="10667"/>
                      <a:pt x="10667" y="10547"/>
                      <a:pt x="10667" y="10398"/>
                    </a:cubicBezTo>
                    <a:lnTo>
                      <a:pt x="10667" y="2402"/>
                    </a:lnTo>
                    <a:cubicBezTo>
                      <a:pt x="10667" y="2254"/>
                      <a:pt x="10547" y="2134"/>
                      <a:pt x="10398" y="2134"/>
                    </a:cubicBezTo>
                    <a:lnTo>
                      <a:pt x="9600" y="2134"/>
                    </a:lnTo>
                    <a:close/>
                    <a:moveTo>
                      <a:pt x="2667" y="5600"/>
                    </a:moveTo>
                    <a:cubicBezTo>
                      <a:pt x="2372" y="5600"/>
                      <a:pt x="2134" y="5362"/>
                      <a:pt x="2134" y="5067"/>
                    </a:cubicBezTo>
                    <a:cubicBezTo>
                      <a:pt x="2134" y="4772"/>
                      <a:pt x="2372" y="4534"/>
                      <a:pt x="2667" y="4534"/>
                    </a:cubicBezTo>
                    <a:lnTo>
                      <a:pt x="8267" y="4534"/>
                    </a:lnTo>
                    <a:cubicBezTo>
                      <a:pt x="8562" y="4534"/>
                      <a:pt x="8800" y="4772"/>
                      <a:pt x="8800" y="5067"/>
                    </a:cubicBezTo>
                    <a:cubicBezTo>
                      <a:pt x="8800" y="5362"/>
                      <a:pt x="8562" y="5600"/>
                      <a:pt x="8267" y="5600"/>
                    </a:cubicBezTo>
                    <a:lnTo>
                      <a:pt x="2667" y="5600"/>
                    </a:lnTo>
                    <a:close/>
                    <a:moveTo>
                      <a:pt x="2667" y="7467"/>
                    </a:moveTo>
                    <a:cubicBezTo>
                      <a:pt x="2372" y="7467"/>
                      <a:pt x="2134" y="7228"/>
                      <a:pt x="2134" y="6934"/>
                    </a:cubicBezTo>
                    <a:cubicBezTo>
                      <a:pt x="2134" y="6639"/>
                      <a:pt x="2372" y="6400"/>
                      <a:pt x="2667" y="6400"/>
                    </a:cubicBezTo>
                    <a:lnTo>
                      <a:pt x="9067" y="6400"/>
                    </a:lnTo>
                    <a:cubicBezTo>
                      <a:pt x="9362" y="6400"/>
                      <a:pt x="9600" y="6639"/>
                      <a:pt x="9600" y="6934"/>
                    </a:cubicBezTo>
                    <a:cubicBezTo>
                      <a:pt x="9600" y="7228"/>
                      <a:pt x="9362" y="7467"/>
                      <a:pt x="9067" y="7467"/>
                    </a:cubicBezTo>
                    <a:lnTo>
                      <a:pt x="2667" y="7467"/>
                    </a:lnTo>
                    <a:close/>
                    <a:moveTo>
                      <a:pt x="2667" y="9334"/>
                    </a:moveTo>
                    <a:cubicBezTo>
                      <a:pt x="2372" y="9334"/>
                      <a:pt x="2134" y="9095"/>
                      <a:pt x="2134" y="8800"/>
                    </a:cubicBezTo>
                    <a:cubicBezTo>
                      <a:pt x="2134" y="8506"/>
                      <a:pt x="2372" y="8267"/>
                      <a:pt x="2667" y="8267"/>
                    </a:cubicBezTo>
                    <a:lnTo>
                      <a:pt x="6400" y="8267"/>
                    </a:lnTo>
                    <a:cubicBezTo>
                      <a:pt x="6695" y="8267"/>
                      <a:pt x="6934" y="8506"/>
                      <a:pt x="6934" y="8800"/>
                    </a:cubicBezTo>
                    <a:cubicBezTo>
                      <a:pt x="6934" y="9095"/>
                      <a:pt x="6695" y="9334"/>
                      <a:pt x="6400" y="9334"/>
                    </a:cubicBezTo>
                    <a:lnTo>
                      <a:pt x="2667" y="9334"/>
                    </a:lnTo>
                    <a:close/>
                  </a:path>
                </a:pathLst>
              </a:custGeom>
              <a:solidFill>
                <a:schemeClr val="bg1"/>
              </a:solidFill>
              <a:ln>
                <a:noFill/>
              </a:ln>
            </p:spPr>
            <p:txBody>
              <a:bodyPr/>
              <a:lstStyle/>
              <a:p>
                <a:endParaRPr lang="zh-CN" altLang="en-US" dirty="0">
                  <a:cs typeface="+mn-ea"/>
                  <a:sym typeface="+mn-lt"/>
                </a:endParaRPr>
              </a:p>
            </p:txBody>
          </p:sp>
          <p:grpSp>
            <p:nvGrpSpPr>
              <p:cNvPr id="6" name="组合 5"/>
              <p:cNvGrpSpPr/>
              <p:nvPr/>
            </p:nvGrpSpPr>
            <p:grpSpPr>
              <a:xfrm>
                <a:off x="7457398" y="3042858"/>
                <a:ext cx="4210050" cy="1538084"/>
                <a:chOff x="7280585" y="3021268"/>
                <a:chExt cx="4210050" cy="1538084"/>
              </a:xfrm>
            </p:grpSpPr>
            <p:sp>
              <p:nvSpPr>
                <p:cNvPr id="7" name="9"/>
                <p:cNvSpPr/>
                <p:nvPr>
                  <p:custDataLst>
                    <p:tags r:id="rId3"/>
                  </p:custDataLst>
                </p:nvPr>
              </p:nvSpPr>
              <p:spPr>
                <a:xfrm>
                  <a:off x="7280585" y="3021268"/>
                  <a:ext cx="4210050"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uLnTx/>
                      <a:uFillTx/>
                      <a:cs typeface="+mn-ea"/>
                      <a:sym typeface="+mn-lt"/>
                    </a:rPr>
                    <a:t>Human keeps full control</a:t>
                  </a:r>
                  <a:endParaRPr kumimoji="0" lang="zh-CN" altLang="en-US" sz="2400" b="1" i="0" u="none" strike="noStrike" kern="1200" cap="none" spc="0" normalizeH="0" baseline="0" noProof="0" dirty="0">
                    <a:ln>
                      <a:noFill/>
                    </a:ln>
                    <a:solidFill>
                      <a:schemeClr val="bg1"/>
                    </a:solidFill>
                    <a:effectLst/>
                    <a:uLnTx/>
                    <a:uFillTx/>
                    <a:cs typeface="+mn-ea"/>
                    <a:sym typeface="+mn-lt"/>
                  </a:endParaRPr>
                </a:p>
              </p:txBody>
            </p:sp>
            <p:sp>
              <p:nvSpPr>
                <p:cNvPr id="8" name="10"/>
                <p:cNvSpPr/>
                <p:nvPr>
                  <p:custDataLst>
                    <p:tags r:id="rId4"/>
                  </p:custDataLst>
                </p:nvPr>
              </p:nvSpPr>
              <p:spPr>
                <a:xfrm>
                  <a:off x="7280585" y="3390952"/>
                  <a:ext cx="4210050" cy="11684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AI only suggests structured orders. Ambiguous/incomplete messages get flagged. Merchants can edit, approve or reject orders. Only </a:t>
                  </a:r>
                  <a:endParaRPr kumimoji="0" lang="zh-CN" altLang="en-US" sz="1400" b="0" i="0" u="none" strike="noStrike" kern="1200" cap="none" spc="0" normalizeH="0" baseline="0" noProof="0" dirty="0">
                    <a:ln>
                      <a:noFill/>
                    </a:ln>
                    <a:solidFill>
                      <a:schemeClr val="bg1"/>
                    </a:solidFill>
                    <a:effectLst/>
                    <a:uLnTx/>
                    <a:uFillTx/>
                    <a:cs typeface="+mn-ea"/>
                    <a:sym typeface="+mn-lt"/>
                  </a:endParaRPr>
                </a:p>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approved orders proceed. All actions are </a:t>
                  </a:r>
                  <a:endParaRPr kumimoji="0" lang="zh-CN" altLang="en-US" sz="1400" b="0" i="0" u="none" strike="noStrike" kern="1200" cap="none" spc="0" normalizeH="0" baseline="0" noProof="0" dirty="0">
                    <a:ln>
                      <a:noFill/>
                    </a:ln>
                    <a:solidFill>
                      <a:schemeClr val="bg1"/>
                    </a:solidFill>
                    <a:effectLst/>
                    <a:uLnTx/>
                    <a:uFillTx/>
                    <a:cs typeface="+mn-ea"/>
                    <a:sym typeface="+mn-lt"/>
                  </a:endParaRPr>
                </a:p>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logged in an audit trail.</a:t>
                  </a:r>
                  <a:endParaRPr kumimoji="0" lang="zh-CN" altLang="en-US" sz="1400" b="0" i="0" u="none" strike="noStrike" kern="1200" cap="none" spc="0" normalizeH="0" baseline="0" noProof="0" dirty="0">
                    <a:ln>
                      <a:noFill/>
                    </a:ln>
                    <a:solidFill>
                      <a:schemeClr val="bg1"/>
                    </a:solidFill>
                    <a:effectLst/>
                    <a:uLnTx/>
                    <a:uFillTx/>
                    <a:cs typeface="+mn-ea"/>
                    <a:sym typeface="+mn-lt"/>
                  </a:endParaRPr>
                </a:p>
              </p:txBody>
            </p:sp>
          </p:grpSp>
        </p:grpSp>
        <p:grpSp>
          <p:nvGrpSpPr>
            <p:cNvPr id="9" name="Group 98"/>
            <p:cNvGrpSpPr/>
            <p:nvPr/>
          </p:nvGrpSpPr>
          <p:grpSpPr>
            <a:xfrm>
              <a:off x="6210300" y="4991847"/>
              <a:ext cx="5562599" cy="1562100"/>
              <a:chOff x="6210300" y="2954655"/>
              <a:chExt cx="5562599" cy="1562100"/>
            </a:xfrm>
          </p:grpSpPr>
          <p:sp>
            <p:nvSpPr>
              <p:cNvPr id="10" name="矩形 9"/>
              <p:cNvSpPr/>
              <p:nvPr>
                <p:custDataLst>
                  <p:tags r:id="rId5"/>
                </p:custDataLst>
              </p:nvPr>
            </p:nvSpPr>
            <p:spPr>
              <a:xfrm>
                <a:off x="6210300" y="2954655"/>
                <a:ext cx="5562599" cy="1562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 name="iconfont-11592-5504371"/>
              <p:cNvSpPr>
                <a:spLocks noChangeAspect="1"/>
              </p:cNvSpPr>
              <p:nvPr>
                <p:custDataLst>
                  <p:tags r:id="rId6"/>
                </p:custDataLst>
              </p:nvPr>
            </p:nvSpPr>
            <p:spPr bwMode="auto">
              <a:xfrm>
                <a:off x="6534108" y="3431358"/>
                <a:ext cx="609685" cy="608691"/>
              </a:xfrm>
              <a:custGeom>
                <a:avLst/>
                <a:gdLst>
                  <a:gd name="connsiteX0" fmla="*/ 64144 w 606580"/>
                  <a:gd name="connsiteY0" fmla="*/ 461145 h 605592"/>
                  <a:gd name="connsiteX1" fmla="*/ 136474 w 606580"/>
                  <a:gd name="connsiteY1" fmla="*/ 461145 h 605592"/>
                  <a:gd name="connsiteX2" fmla="*/ 136474 w 606580"/>
                  <a:gd name="connsiteY2" fmla="*/ 605592 h 605592"/>
                  <a:gd name="connsiteX3" fmla="*/ 64144 w 606580"/>
                  <a:gd name="connsiteY3" fmla="*/ 605592 h 605592"/>
                  <a:gd name="connsiteX4" fmla="*/ 181706 w 606580"/>
                  <a:gd name="connsiteY4" fmla="*/ 378583 h 605592"/>
                  <a:gd name="connsiteX5" fmla="*/ 254036 w 606580"/>
                  <a:gd name="connsiteY5" fmla="*/ 378583 h 605592"/>
                  <a:gd name="connsiteX6" fmla="*/ 254036 w 606580"/>
                  <a:gd name="connsiteY6" fmla="*/ 605592 h 605592"/>
                  <a:gd name="connsiteX7" fmla="*/ 181706 w 606580"/>
                  <a:gd name="connsiteY7" fmla="*/ 605592 h 605592"/>
                  <a:gd name="connsiteX8" fmla="*/ 299268 w 606580"/>
                  <a:gd name="connsiteY8" fmla="*/ 285719 h 605592"/>
                  <a:gd name="connsiteX9" fmla="*/ 371598 w 606580"/>
                  <a:gd name="connsiteY9" fmla="*/ 285719 h 605592"/>
                  <a:gd name="connsiteX10" fmla="*/ 371598 w 606580"/>
                  <a:gd name="connsiteY10" fmla="*/ 605592 h 605592"/>
                  <a:gd name="connsiteX11" fmla="*/ 299268 w 606580"/>
                  <a:gd name="connsiteY11" fmla="*/ 605592 h 605592"/>
                  <a:gd name="connsiteX12" fmla="*/ 416759 w 606580"/>
                  <a:gd name="connsiteY12" fmla="*/ 192785 h 605592"/>
                  <a:gd name="connsiteX13" fmla="*/ 489018 w 606580"/>
                  <a:gd name="connsiteY13" fmla="*/ 192785 h 605592"/>
                  <a:gd name="connsiteX14" fmla="*/ 489018 w 606580"/>
                  <a:gd name="connsiteY14" fmla="*/ 605592 h 605592"/>
                  <a:gd name="connsiteX15" fmla="*/ 416759 w 606580"/>
                  <a:gd name="connsiteY15" fmla="*/ 605592 h 605592"/>
                  <a:gd name="connsiteX16" fmla="*/ 534250 w 606580"/>
                  <a:gd name="connsiteY16" fmla="*/ 130899 h 605592"/>
                  <a:gd name="connsiteX17" fmla="*/ 606580 w 606580"/>
                  <a:gd name="connsiteY17" fmla="*/ 130899 h 605592"/>
                  <a:gd name="connsiteX18" fmla="*/ 606580 w 606580"/>
                  <a:gd name="connsiteY18" fmla="*/ 605592 h 605592"/>
                  <a:gd name="connsiteX19" fmla="*/ 534250 w 606580"/>
                  <a:gd name="connsiteY19" fmla="*/ 605592 h 605592"/>
                  <a:gd name="connsiteX20" fmla="*/ 496145 w 606580"/>
                  <a:gd name="connsiteY20" fmla="*/ 0 h 605592"/>
                  <a:gd name="connsiteX21" fmla="*/ 466529 w 606580"/>
                  <a:gd name="connsiteY21" fmla="*/ 75920 h 605592"/>
                  <a:gd name="connsiteX22" fmla="*/ 453345 w 606580"/>
                  <a:gd name="connsiteY22" fmla="*/ 59605 h 605592"/>
                  <a:gd name="connsiteX23" fmla="*/ 23767 w 606580"/>
                  <a:gd name="connsiteY23" fmla="*/ 404904 h 605592"/>
                  <a:gd name="connsiteX24" fmla="*/ 0 w 606580"/>
                  <a:gd name="connsiteY24" fmla="*/ 375426 h 605592"/>
                  <a:gd name="connsiteX25" fmla="*/ 429671 w 606580"/>
                  <a:gd name="connsiteY25" fmla="*/ 30034 h 605592"/>
                  <a:gd name="connsiteX26" fmla="*/ 415466 w 606580"/>
                  <a:gd name="connsiteY26" fmla="*/ 12329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6580" h="605592">
                    <a:moveTo>
                      <a:pt x="64144" y="461145"/>
                    </a:moveTo>
                    <a:lnTo>
                      <a:pt x="136474" y="461145"/>
                    </a:lnTo>
                    <a:lnTo>
                      <a:pt x="136474" y="605592"/>
                    </a:lnTo>
                    <a:lnTo>
                      <a:pt x="64144" y="605592"/>
                    </a:lnTo>
                    <a:close/>
                    <a:moveTo>
                      <a:pt x="181706" y="378583"/>
                    </a:moveTo>
                    <a:lnTo>
                      <a:pt x="254036" y="378583"/>
                    </a:lnTo>
                    <a:lnTo>
                      <a:pt x="254036" y="605592"/>
                    </a:lnTo>
                    <a:lnTo>
                      <a:pt x="181706" y="605592"/>
                    </a:lnTo>
                    <a:close/>
                    <a:moveTo>
                      <a:pt x="299268" y="285719"/>
                    </a:moveTo>
                    <a:lnTo>
                      <a:pt x="371598" y="285719"/>
                    </a:lnTo>
                    <a:lnTo>
                      <a:pt x="371598" y="605592"/>
                    </a:lnTo>
                    <a:lnTo>
                      <a:pt x="299268" y="605592"/>
                    </a:lnTo>
                    <a:close/>
                    <a:moveTo>
                      <a:pt x="416759" y="192785"/>
                    </a:moveTo>
                    <a:lnTo>
                      <a:pt x="489018" y="192785"/>
                    </a:lnTo>
                    <a:lnTo>
                      <a:pt x="489018" y="605592"/>
                    </a:lnTo>
                    <a:lnTo>
                      <a:pt x="416759" y="605592"/>
                    </a:lnTo>
                    <a:close/>
                    <a:moveTo>
                      <a:pt x="534250" y="130899"/>
                    </a:moveTo>
                    <a:lnTo>
                      <a:pt x="606580" y="130899"/>
                    </a:lnTo>
                    <a:lnTo>
                      <a:pt x="606580" y="605592"/>
                    </a:lnTo>
                    <a:lnTo>
                      <a:pt x="534250" y="605592"/>
                    </a:lnTo>
                    <a:close/>
                    <a:moveTo>
                      <a:pt x="496145" y="0"/>
                    </a:moveTo>
                    <a:lnTo>
                      <a:pt x="466529" y="75920"/>
                    </a:lnTo>
                    <a:lnTo>
                      <a:pt x="453345" y="59605"/>
                    </a:lnTo>
                    <a:lnTo>
                      <a:pt x="23767" y="404904"/>
                    </a:lnTo>
                    <a:lnTo>
                      <a:pt x="0" y="375426"/>
                    </a:lnTo>
                    <a:lnTo>
                      <a:pt x="429671" y="30034"/>
                    </a:lnTo>
                    <a:lnTo>
                      <a:pt x="415466" y="12329"/>
                    </a:lnTo>
                    <a:close/>
                  </a:path>
                </a:pathLst>
              </a:custGeom>
              <a:solidFill>
                <a:schemeClr val="bg1"/>
              </a:solidFill>
              <a:ln>
                <a:noFill/>
              </a:ln>
            </p:spPr>
            <p:txBody>
              <a:bodyPr/>
              <a:lstStyle/>
              <a:p>
                <a:endParaRPr lang="zh-CN" altLang="en-US" dirty="0">
                  <a:cs typeface="+mn-ea"/>
                  <a:sym typeface="+mn-lt"/>
                </a:endParaRPr>
              </a:p>
            </p:txBody>
          </p:sp>
          <p:grpSp>
            <p:nvGrpSpPr>
              <p:cNvPr id="12" name="组合 11"/>
              <p:cNvGrpSpPr/>
              <p:nvPr/>
            </p:nvGrpSpPr>
            <p:grpSpPr>
              <a:xfrm>
                <a:off x="7351988" y="3013013"/>
                <a:ext cx="4315460" cy="1416797"/>
                <a:chOff x="7175175" y="2991423"/>
                <a:chExt cx="4315460" cy="1416797"/>
              </a:xfrm>
            </p:grpSpPr>
            <p:sp>
              <p:nvSpPr>
                <p:cNvPr id="13" name="9"/>
                <p:cNvSpPr/>
                <p:nvPr>
                  <p:custDataLst>
                    <p:tags r:id="rId7"/>
                  </p:custDataLst>
                </p:nvPr>
              </p:nvSpPr>
              <p:spPr>
                <a:xfrm>
                  <a:off x="7175175" y="2991423"/>
                  <a:ext cx="4315460" cy="3987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cs typeface="+mn-ea"/>
                      <a:sym typeface="+mn-lt"/>
                    </a:rPr>
                    <a:t>SDG impact with justification</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14" name="10"/>
                <p:cNvSpPr/>
                <p:nvPr>
                  <p:custDataLst>
                    <p:tags r:id="rId8"/>
                  </p:custDataLst>
                </p:nvPr>
              </p:nvSpPr>
              <p:spPr>
                <a:xfrm>
                  <a:off x="7175175" y="3283635"/>
                  <a:ext cx="4210050" cy="11245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20000"/>
                    </a:lnSpc>
                    <a:spcBef>
                      <a:spcPts val="0"/>
                    </a:spcBef>
                    <a:spcAft>
                      <a:spcPts val="0"/>
                    </a:spcAft>
                    <a:buClrTx/>
                    <a:buSzTx/>
                    <a:buFontTx/>
                    <a:buNone/>
                    <a:defRPr/>
                  </a:pPr>
                  <a:r>
                    <a:rPr lang="zh-CN" altLang="en-US" sz="1400" noProof="0" dirty="0">
                      <a:ln>
                        <a:noFill/>
                      </a:ln>
                      <a:solidFill>
                        <a:schemeClr val="bg1"/>
                      </a:solidFill>
                      <a:effectLst/>
                      <a:uLnTx/>
                      <a:uFillTx/>
                      <a:cs typeface="+mn-ea"/>
                      <a:sym typeface="+mn-lt"/>
                    </a:rPr>
                    <a:t>Aligned with SDG 8.3 . We explain how it helps micro-enterprises reduce wasted </a:t>
                  </a:r>
                  <a:endParaRPr lang="zh-CN" altLang="en-US" sz="1400" noProof="0" dirty="0">
                    <a:ln>
                      <a:noFill/>
                    </a:ln>
                    <a:solidFill>
                      <a:schemeClr val="bg1"/>
                    </a:solidFill>
                    <a:effectLst/>
                    <a:uLnTx/>
                    <a:uFillTx/>
                    <a:cs typeface="+mn-ea"/>
                    <a:sym typeface="+mn-lt"/>
                  </a:endParaRPr>
                </a:p>
                <a:p>
                  <a:pPr marL="0" marR="0" lvl="0" indent="0" algn="l" defTabSz="914400" rtl="0" eaLnBrk="1" fontAlgn="auto" latinLnBrk="1" hangingPunct="1">
                    <a:lnSpc>
                      <a:spcPct val="120000"/>
                    </a:lnSpc>
                    <a:spcBef>
                      <a:spcPts val="0"/>
                    </a:spcBef>
                    <a:spcAft>
                      <a:spcPts val="0"/>
                    </a:spcAft>
                    <a:buClrTx/>
                    <a:buSzTx/>
                    <a:buFontTx/>
                    <a:buNone/>
                    <a:defRPr/>
                  </a:pPr>
                  <a:r>
                    <a:rPr lang="zh-CN" altLang="en-US" sz="1400" noProof="0" dirty="0">
                      <a:ln>
                        <a:noFill/>
                      </a:ln>
                      <a:solidFill>
                        <a:schemeClr val="bg1"/>
                      </a:solidFill>
                      <a:effectLst/>
                      <a:uLnTx/>
                      <a:uFillTx/>
                      <a:cs typeface="+mn-ea"/>
                      <a:sym typeface="+mn-lt"/>
                    </a:rPr>
                    <a:t>labour and cut food over-ordering, not merely attach SDG icons.</a:t>
                  </a:r>
                  <a:endParaRPr lang="zh-CN" altLang="en-US" sz="1400" noProof="0" dirty="0">
                    <a:ln>
                      <a:noFill/>
                    </a:ln>
                    <a:solidFill>
                      <a:schemeClr val="bg1"/>
                    </a:solidFill>
                    <a:effectLst/>
                    <a:uLnTx/>
                    <a:uFillTx/>
                    <a:cs typeface="+mn-ea"/>
                    <a:sym typeface="+mn-lt"/>
                  </a:endParaRPr>
                </a:p>
              </p:txBody>
            </p:sp>
          </p:grpSp>
        </p:grpSp>
      </p:grpSp>
      <p:sp>
        <p:nvSpPr>
          <p:cNvPr id="15" name="矩形 14"/>
          <p:cNvSpPr/>
          <p:nvPr>
            <p:custDataLst>
              <p:tags r:id="rId9"/>
            </p:custDataLst>
          </p:nvPr>
        </p:nvSpPr>
        <p:spPr>
          <a:xfrm>
            <a:off x="194310" y="1058657"/>
            <a:ext cx="5562599" cy="1562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iconfont-11592-5504371"/>
          <p:cNvSpPr>
            <a:spLocks noChangeAspect="1"/>
          </p:cNvSpPr>
          <p:nvPr>
            <p:custDataLst>
              <p:tags r:id="rId10"/>
            </p:custDataLst>
          </p:nvPr>
        </p:nvSpPr>
        <p:spPr bwMode="auto">
          <a:xfrm>
            <a:off x="518118" y="1535360"/>
            <a:ext cx="609685" cy="608691"/>
          </a:xfrm>
          <a:custGeom>
            <a:avLst/>
            <a:gdLst>
              <a:gd name="connsiteX0" fmla="*/ 64144 w 606580"/>
              <a:gd name="connsiteY0" fmla="*/ 461145 h 605592"/>
              <a:gd name="connsiteX1" fmla="*/ 136474 w 606580"/>
              <a:gd name="connsiteY1" fmla="*/ 461145 h 605592"/>
              <a:gd name="connsiteX2" fmla="*/ 136474 w 606580"/>
              <a:gd name="connsiteY2" fmla="*/ 605592 h 605592"/>
              <a:gd name="connsiteX3" fmla="*/ 64144 w 606580"/>
              <a:gd name="connsiteY3" fmla="*/ 605592 h 605592"/>
              <a:gd name="connsiteX4" fmla="*/ 181706 w 606580"/>
              <a:gd name="connsiteY4" fmla="*/ 378583 h 605592"/>
              <a:gd name="connsiteX5" fmla="*/ 254036 w 606580"/>
              <a:gd name="connsiteY5" fmla="*/ 378583 h 605592"/>
              <a:gd name="connsiteX6" fmla="*/ 254036 w 606580"/>
              <a:gd name="connsiteY6" fmla="*/ 605592 h 605592"/>
              <a:gd name="connsiteX7" fmla="*/ 181706 w 606580"/>
              <a:gd name="connsiteY7" fmla="*/ 605592 h 605592"/>
              <a:gd name="connsiteX8" fmla="*/ 299268 w 606580"/>
              <a:gd name="connsiteY8" fmla="*/ 285719 h 605592"/>
              <a:gd name="connsiteX9" fmla="*/ 371598 w 606580"/>
              <a:gd name="connsiteY9" fmla="*/ 285719 h 605592"/>
              <a:gd name="connsiteX10" fmla="*/ 371598 w 606580"/>
              <a:gd name="connsiteY10" fmla="*/ 605592 h 605592"/>
              <a:gd name="connsiteX11" fmla="*/ 299268 w 606580"/>
              <a:gd name="connsiteY11" fmla="*/ 605592 h 605592"/>
              <a:gd name="connsiteX12" fmla="*/ 416759 w 606580"/>
              <a:gd name="connsiteY12" fmla="*/ 192785 h 605592"/>
              <a:gd name="connsiteX13" fmla="*/ 489018 w 606580"/>
              <a:gd name="connsiteY13" fmla="*/ 192785 h 605592"/>
              <a:gd name="connsiteX14" fmla="*/ 489018 w 606580"/>
              <a:gd name="connsiteY14" fmla="*/ 605592 h 605592"/>
              <a:gd name="connsiteX15" fmla="*/ 416759 w 606580"/>
              <a:gd name="connsiteY15" fmla="*/ 605592 h 605592"/>
              <a:gd name="connsiteX16" fmla="*/ 534250 w 606580"/>
              <a:gd name="connsiteY16" fmla="*/ 130899 h 605592"/>
              <a:gd name="connsiteX17" fmla="*/ 606580 w 606580"/>
              <a:gd name="connsiteY17" fmla="*/ 130899 h 605592"/>
              <a:gd name="connsiteX18" fmla="*/ 606580 w 606580"/>
              <a:gd name="connsiteY18" fmla="*/ 605592 h 605592"/>
              <a:gd name="connsiteX19" fmla="*/ 534250 w 606580"/>
              <a:gd name="connsiteY19" fmla="*/ 605592 h 605592"/>
              <a:gd name="connsiteX20" fmla="*/ 496145 w 606580"/>
              <a:gd name="connsiteY20" fmla="*/ 0 h 605592"/>
              <a:gd name="connsiteX21" fmla="*/ 466529 w 606580"/>
              <a:gd name="connsiteY21" fmla="*/ 75920 h 605592"/>
              <a:gd name="connsiteX22" fmla="*/ 453345 w 606580"/>
              <a:gd name="connsiteY22" fmla="*/ 59605 h 605592"/>
              <a:gd name="connsiteX23" fmla="*/ 23767 w 606580"/>
              <a:gd name="connsiteY23" fmla="*/ 404904 h 605592"/>
              <a:gd name="connsiteX24" fmla="*/ 0 w 606580"/>
              <a:gd name="connsiteY24" fmla="*/ 375426 h 605592"/>
              <a:gd name="connsiteX25" fmla="*/ 429671 w 606580"/>
              <a:gd name="connsiteY25" fmla="*/ 30034 h 605592"/>
              <a:gd name="connsiteX26" fmla="*/ 415466 w 606580"/>
              <a:gd name="connsiteY26" fmla="*/ 12329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6580" h="605592">
                <a:moveTo>
                  <a:pt x="64144" y="461145"/>
                </a:moveTo>
                <a:lnTo>
                  <a:pt x="136474" y="461145"/>
                </a:lnTo>
                <a:lnTo>
                  <a:pt x="136474" y="605592"/>
                </a:lnTo>
                <a:lnTo>
                  <a:pt x="64144" y="605592"/>
                </a:lnTo>
                <a:close/>
                <a:moveTo>
                  <a:pt x="181706" y="378583"/>
                </a:moveTo>
                <a:lnTo>
                  <a:pt x="254036" y="378583"/>
                </a:lnTo>
                <a:lnTo>
                  <a:pt x="254036" y="605592"/>
                </a:lnTo>
                <a:lnTo>
                  <a:pt x="181706" y="605592"/>
                </a:lnTo>
                <a:close/>
                <a:moveTo>
                  <a:pt x="299268" y="285719"/>
                </a:moveTo>
                <a:lnTo>
                  <a:pt x="371598" y="285719"/>
                </a:lnTo>
                <a:lnTo>
                  <a:pt x="371598" y="605592"/>
                </a:lnTo>
                <a:lnTo>
                  <a:pt x="299268" y="605592"/>
                </a:lnTo>
                <a:close/>
                <a:moveTo>
                  <a:pt x="416759" y="192785"/>
                </a:moveTo>
                <a:lnTo>
                  <a:pt x="489018" y="192785"/>
                </a:lnTo>
                <a:lnTo>
                  <a:pt x="489018" y="605592"/>
                </a:lnTo>
                <a:lnTo>
                  <a:pt x="416759" y="605592"/>
                </a:lnTo>
                <a:close/>
                <a:moveTo>
                  <a:pt x="534250" y="130899"/>
                </a:moveTo>
                <a:lnTo>
                  <a:pt x="606580" y="130899"/>
                </a:lnTo>
                <a:lnTo>
                  <a:pt x="606580" y="605592"/>
                </a:lnTo>
                <a:lnTo>
                  <a:pt x="534250" y="605592"/>
                </a:lnTo>
                <a:close/>
                <a:moveTo>
                  <a:pt x="496145" y="0"/>
                </a:moveTo>
                <a:lnTo>
                  <a:pt x="466529" y="75920"/>
                </a:lnTo>
                <a:lnTo>
                  <a:pt x="453345" y="59605"/>
                </a:lnTo>
                <a:lnTo>
                  <a:pt x="23767" y="404904"/>
                </a:lnTo>
                <a:lnTo>
                  <a:pt x="0" y="375426"/>
                </a:lnTo>
                <a:lnTo>
                  <a:pt x="429671" y="30034"/>
                </a:lnTo>
                <a:lnTo>
                  <a:pt x="415466" y="12329"/>
                </a:lnTo>
                <a:close/>
              </a:path>
            </a:pathLst>
          </a:custGeom>
          <a:solidFill>
            <a:schemeClr val="bg1"/>
          </a:solidFill>
          <a:ln>
            <a:noFill/>
          </a:ln>
        </p:spPr>
        <p:txBody>
          <a:bodyPr/>
          <a:lstStyle/>
          <a:p>
            <a:endParaRPr lang="zh-CN" altLang="en-US" dirty="0">
              <a:cs typeface="+mn-ea"/>
              <a:sym typeface="+mn-lt"/>
            </a:endParaRPr>
          </a:p>
        </p:txBody>
      </p:sp>
      <p:sp>
        <p:nvSpPr>
          <p:cNvPr id="17" name="9"/>
          <p:cNvSpPr/>
          <p:nvPr>
            <p:custDataLst>
              <p:tags r:id="rId11"/>
            </p:custDataLst>
          </p:nvPr>
        </p:nvSpPr>
        <p:spPr>
          <a:xfrm>
            <a:off x="1441450" y="1114425"/>
            <a:ext cx="4210050"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uLnTx/>
                <a:uFillTx/>
                <a:cs typeface="+mn-ea"/>
                <a:sym typeface="+mn-lt"/>
              </a:rPr>
              <a:t>A clear enterprise problem</a:t>
            </a:r>
            <a:endParaRPr kumimoji="0" lang="zh-CN" altLang="en-US" sz="2400" b="1" i="0" u="none" strike="noStrike" kern="1200" cap="none" spc="0" normalizeH="0" baseline="0" noProof="0" dirty="0">
              <a:ln>
                <a:noFill/>
              </a:ln>
              <a:solidFill>
                <a:schemeClr val="bg1"/>
              </a:solidFill>
              <a:effectLst/>
              <a:uLnTx/>
              <a:uFillTx/>
              <a:cs typeface="+mn-ea"/>
              <a:sym typeface="+mn-lt"/>
            </a:endParaRPr>
          </a:p>
        </p:txBody>
      </p:sp>
      <p:sp>
        <p:nvSpPr>
          <p:cNvPr id="18" name="10"/>
          <p:cNvSpPr/>
          <p:nvPr>
            <p:custDataLst>
              <p:tags r:id="rId12"/>
            </p:custDataLst>
          </p:nvPr>
        </p:nvSpPr>
        <p:spPr>
          <a:xfrm>
            <a:off x="1441450" y="1516380"/>
            <a:ext cx="4315460" cy="11042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1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cs typeface="+mn-ea"/>
                <a:sym typeface="+mn-lt"/>
              </a:rPr>
              <a:t>Target users: campus micro food merchants in Malaysia. They collect orders manually from group chat, spending heavy labour on parsing messy conversational messages, tallying orders and checking payments, which is slow and error-prone.</a:t>
            </a:r>
            <a:endParaRPr kumimoji="0" lang="zh-CN" altLang="en-US" sz="1200" b="0" i="0" u="none" strike="noStrike" kern="1200" cap="none" spc="0" normalizeH="0" baseline="0" noProof="0" dirty="0">
              <a:ln>
                <a:noFill/>
              </a:ln>
              <a:solidFill>
                <a:schemeClr val="bg1"/>
              </a:solidFill>
              <a:effectLst/>
              <a:uLnTx/>
              <a:uFillTx/>
              <a:cs typeface="+mn-ea"/>
              <a:sym typeface="+mn-lt"/>
            </a:endParaRPr>
          </a:p>
        </p:txBody>
      </p:sp>
      <p:sp>
        <p:nvSpPr>
          <p:cNvPr id="19" name="矩形 18"/>
          <p:cNvSpPr/>
          <p:nvPr>
            <p:custDataLst>
              <p:tags r:id="rId13"/>
            </p:custDataLst>
          </p:nvPr>
        </p:nvSpPr>
        <p:spPr>
          <a:xfrm>
            <a:off x="6198870" y="1098027"/>
            <a:ext cx="5562599" cy="1562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iconfont-11592-5504371"/>
          <p:cNvSpPr>
            <a:spLocks noChangeAspect="1"/>
          </p:cNvSpPr>
          <p:nvPr>
            <p:custDataLst>
              <p:tags r:id="rId14"/>
            </p:custDataLst>
          </p:nvPr>
        </p:nvSpPr>
        <p:spPr bwMode="auto">
          <a:xfrm>
            <a:off x="6522678" y="1574730"/>
            <a:ext cx="609685" cy="608691"/>
          </a:xfrm>
          <a:custGeom>
            <a:avLst/>
            <a:gdLst>
              <a:gd name="connsiteX0" fmla="*/ 64144 w 606580"/>
              <a:gd name="connsiteY0" fmla="*/ 461145 h 605592"/>
              <a:gd name="connsiteX1" fmla="*/ 136474 w 606580"/>
              <a:gd name="connsiteY1" fmla="*/ 461145 h 605592"/>
              <a:gd name="connsiteX2" fmla="*/ 136474 w 606580"/>
              <a:gd name="connsiteY2" fmla="*/ 605592 h 605592"/>
              <a:gd name="connsiteX3" fmla="*/ 64144 w 606580"/>
              <a:gd name="connsiteY3" fmla="*/ 605592 h 605592"/>
              <a:gd name="connsiteX4" fmla="*/ 181706 w 606580"/>
              <a:gd name="connsiteY4" fmla="*/ 378583 h 605592"/>
              <a:gd name="connsiteX5" fmla="*/ 254036 w 606580"/>
              <a:gd name="connsiteY5" fmla="*/ 378583 h 605592"/>
              <a:gd name="connsiteX6" fmla="*/ 254036 w 606580"/>
              <a:gd name="connsiteY6" fmla="*/ 605592 h 605592"/>
              <a:gd name="connsiteX7" fmla="*/ 181706 w 606580"/>
              <a:gd name="connsiteY7" fmla="*/ 605592 h 605592"/>
              <a:gd name="connsiteX8" fmla="*/ 299268 w 606580"/>
              <a:gd name="connsiteY8" fmla="*/ 285719 h 605592"/>
              <a:gd name="connsiteX9" fmla="*/ 371598 w 606580"/>
              <a:gd name="connsiteY9" fmla="*/ 285719 h 605592"/>
              <a:gd name="connsiteX10" fmla="*/ 371598 w 606580"/>
              <a:gd name="connsiteY10" fmla="*/ 605592 h 605592"/>
              <a:gd name="connsiteX11" fmla="*/ 299268 w 606580"/>
              <a:gd name="connsiteY11" fmla="*/ 605592 h 605592"/>
              <a:gd name="connsiteX12" fmla="*/ 416759 w 606580"/>
              <a:gd name="connsiteY12" fmla="*/ 192785 h 605592"/>
              <a:gd name="connsiteX13" fmla="*/ 489018 w 606580"/>
              <a:gd name="connsiteY13" fmla="*/ 192785 h 605592"/>
              <a:gd name="connsiteX14" fmla="*/ 489018 w 606580"/>
              <a:gd name="connsiteY14" fmla="*/ 605592 h 605592"/>
              <a:gd name="connsiteX15" fmla="*/ 416759 w 606580"/>
              <a:gd name="connsiteY15" fmla="*/ 605592 h 605592"/>
              <a:gd name="connsiteX16" fmla="*/ 534250 w 606580"/>
              <a:gd name="connsiteY16" fmla="*/ 130899 h 605592"/>
              <a:gd name="connsiteX17" fmla="*/ 606580 w 606580"/>
              <a:gd name="connsiteY17" fmla="*/ 130899 h 605592"/>
              <a:gd name="connsiteX18" fmla="*/ 606580 w 606580"/>
              <a:gd name="connsiteY18" fmla="*/ 605592 h 605592"/>
              <a:gd name="connsiteX19" fmla="*/ 534250 w 606580"/>
              <a:gd name="connsiteY19" fmla="*/ 605592 h 605592"/>
              <a:gd name="connsiteX20" fmla="*/ 496145 w 606580"/>
              <a:gd name="connsiteY20" fmla="*/ 0 h 605592"/>
              <a:gd name="connsiteX21" fmla="*/ 466529 w 606580"/>
              <a:gd name="connsiteY21" fmla="*/ 75920 h 605592"/>
              <a:gd name="connsiteX22" fmla="*/ 453345 w 606580"/>
              <a:gd name="connsiteY22" fmla="*/ 59605 h 605592"/>
              <a:gd name="connsiteX23" fmla="*/ 23767 w 606580"/>
              <a:gd name="connsiteY23" fmla="*/ 404904 h 605592"/>
              <a:gd name="connsiteX24" fmla="*/ 0 w 606580"/>
              <a:gd name="connsiteY24" fmla="*/ 375426 h 605592"/>
              <a:gd name="connsiteX25" fmla="*/ 429671 w 606580"/>
              <a:gd name="connsiteY25" fmla="*/ 30034 h 605592"/>
              <a:gd name="connsiteX26" fmla="*/ 415466 w 606580"/>
              <a:gd name="connsiteY26" fmla="*/ 12329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6580" h="605592">
                <a:moveTo>
                  <a:pt x="64144" y="461145"/>
                </a:moveTo>
                <a:lnTo>
                  <a:pt x="136474" y="461145"/>
                </a:lnTo>
                <a:lnTo>
                  <a:pt x="136474" y="605592"/>
                </a:lnTo>
                <a:lnTo>
                  <a:pt x="64144" y="605592"/>
                </a:lnTo>
                <a:close/>
                <a:moveTo>
                  <a:pt x="181706" y="378583"/>
                </a:moveTo>
                <a:lnTo>
                  <a:pt x="254036" y="378583"/>
                </a:lnTo>
                <a:lnTo>
                  <a:pt x="254036" y="605592"/>
                </a:lnTo>
                <a:lnTo>
                  <a:pt x="181706" y="605592"/>
                </a:lnTo>
                <a:close/>
                <a:moveTo>
                  <a:pt x="299268" y="285719"/>
                </a:moveTo>
                <a:lnTo>
                  <a:pt x="371598" y="285719"/>
                </a:lnTo>
                <a:lnTo>
                  <a:pt x="371598" y="605592"/>
                </a:lnTo>
                <a:lnTo>
                  <a:pt x="299268" y="605592"/>
                </a:lnTo>
                <a:close/>
                <a:moveTo>
                  <a:pt x="416759" y="192785"/>
                </a:moveTo>
                <a:lnTo>
                  <a:pt x="489018" y="192785"/>
                </a:lnTo>
                <a:lnTo>
                  <a:pt x="489018" y="605592"/>
                </a:lnTo>
                <a:lnTo>
                  <a:pt x="416759" y="605592"/>
                </a:lnTo>
                <a:close/>
                <a:moveTo>
                  <a:pt x="534250" y="130899"/>
                </a:moveTo>
                <a:lnTo>
                  <a:pt x="606580" y="130899"/>
                </a:lnTo>
                <a:lnTo>
                  <a:pt x="606580" y="605592"/>
                </a:lnTo>
                <a:lnTo>
                  <a:pt x="534250" y="605592"/>
                </a:lnTo>
                <a:close/>
                <a:moveTo>
                  <a:pt x="496145" y="0"/>
                </a:moveTo>
                <a:lnTo>
                  <a:pt x="466529" y="75920"/>
                </a:lnTo>
                <a:lnTo>
                  <a:pt x="453345" y="59605"/>
                </a:lnTo>
                <a:lnTo>
                  <a:pt x="23767" y="404904"/>
                </a:lnTo>
                <a:lnTo>
                  <a:pt x="0" y="375426"/>
                </a:lnTo>
                <a:lnTo>
                  <a:pt x="429671" y="30034"/>
                </a:lnTo>
                <a:lnTo>
                  <a:pt x="415466" y="12329"/>
                </a:lnTo>
                <a:close/>
              </a:path>
            </a:pathLst>
          </a:custGeom>
          <a:solidFill>
            <a:schemeClr val="bg1"/>
          </a:solidFill>
          <a:ln>
            <a:noFill/>
          </a:ln>
        </p:spPr>
        <p:txBody>
          <a:bodyPr/>
          <a:lstStyle/>
          <a:p>
            <a:endParaRPr lang="zh-CN" altLang="en-US" dirty="0">
              <a:cs typeface="+mn-ea"/>
              <a:sym typeface="+mn-lt"/>
            </a:endParaRPr>
          </a:p>
        </p:txBody>
      </p:sp>
      <p:sp>
        <p:nvSpPr>
          <p:cNvPr id="21" name="9"/>
          <p:cNvSpPr/>
          <p:nvPr>
            <p:custDataLst>
              <p:tags r:id="rId15"/>
            </p:custDataLst>
          </p:nvPr>
        </p:nvSpPr>
        <p:spPr>
          <a:xfrm>
            <a:off x="7446010" y="1114425"/>
            <a:ext cx="4315460"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uLnTx/>
                <a:uFillTx/>
                <a:cs typeface="+mn-ea"/>
                <a:sym typeface="+mn-lt"/>
              </a:rPr>
              <a:t>Core automation workflow</a:t>
            </a:r>
            <a:endParaRPr kumimoji="0" lang="zh-CN" altLang="en-US" sz="2400" b="1" i="0" u="none" strike="noStrike" kern="1200" cap="none" spc="0" normalizeH="0" baseline="0" noProof="0" dirty="0">
              <a:ln>
                <a:noFill/>
              </a:ln>
              <a:solidFill>
                <a:schemeClr val="bg1"/>
              </a:solidFill>
              <a:effectLst/>
              <a:uLnTx/>
              <a:uFillTx/>
              <a:cs typeface="+mn-ea"/>
              <a:sym typeface="+mn-lt"/>
            </a:endParaRPr>
          </a:p>
        </p:txBody>
      </p:sp>
      <p:sp>
        <p:nvSpPr>
          <p:cNvPr id="22" name="10"/>
          <p:cNvSpPr/>
          <p:nvPr>
            <p:custDataLst>
              <p:tags r:id="rId16"/>
            </p:custDataLst>
          </p:nvPr>
        </p:nvSpPr>
        <p:spPr>
          <a:xfrm>
            <a:off x="7445968" y="1583882"/>
            <a:ext cx="4210050" cy="86550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1" hangingPunct="1">
              <a:lnSpc>
                <a:spcPct val="9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cs typeface="+mn-ea"/>
                <a:sym typeface="+mn-lt"/>
              </a:rPr>
              <a:t>Unstructured chat input → AI extraction &amp; structuring → order merging → merchant review → generate consolidated food prep list + delivery manifest.</a:t>
            </a:r>
            <a:endParaRPr kumimoji="0" lang="zh-CN" altLang="en-US" sz="1400" b="0" i="0" u="none" strike="noStrike" kern="1200" cap="none" spc="0" normalizeH="0" baseline="0" noProof="0" dirty="0">
              <a:ln>
                <a:noFill/>
              </a:ln>
              <a:solidFill>
                <a:schemeClr val="bg1"/>
              </a:solidFill>
              <a:effectLst/>
              <a:uLnTx/>
              <a:uFillTx/>
              <a:cs typeface="+mn-ea"/>
              <a:sym typeface="+mn-lt"/>
            </a:endParaRPr>
          </a:p>
        </p:txBody>
      </p:sp>
    </p:spTree>
    <p:custDataLst>
      <p:tags r:id="rId1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3" name="矩形 22"/>
          <p:cNvSpPr/>
          <p:nvPr/>
        </p:nvSpPr>
        <p:spPr>
          <a:xfrm flipH="1">
            <a:off x="0" y="876300"/>
            <a:ext cx="12192000" cy="510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24" name="图片 23"/>
          <p:cNvPicPr>
            <a:picLocks noChangeAspect="1"/>
          </p:cNvPicPr>
          <p:nvPr/>
        </p:nvPicPr>
        <p:blipFill>
          <a:blip r:embed="rId1" cstate="print">
            <a:extLst>
              <a:ext uri="{BEBA8EAE-BF5A-486C-A8C5-ECC9F3942E4B}">
                <a14:imgProps xmlns:a14="http://schemas.microsoft.com/office/drawing/2010/main">
                  <a14:imgLayer r:embed="rId2">
                    <a14:imgEffect>
                      <a14:brightnessContrast bright="10000"/>
                    </a14:imgEffect>
                  </a14:imgLayer>
                </a14:imgProps>
              </a:ext>
              <a:ext uri="{28A0092B-C50C-407E-A947-70E740481C1C}">
                <a14:useLocalDpi xmlns:a14="http://schemas.microsoft.com/office/drawing/2010/main" val="0"/>
              </a:ext>
            </a:extLst>
          </a:blip>
          <a:srcRect l="2808" r="2808"/>
          <a:stretch>
            <a:fillRect/>
          </a:stretch>
        </p:blipFill>
        <p:spPr>
          <a:xfrm>
            <a:off x="0" y="1098905"/>
            <a:ext cx="6595977" cy="4660190"/>
          </a:xfrm>
          <a:prstGeom prst="rect">
            <a:avLst/>
          </a:prstGeom>
        </p:spPr>
      </p:pic>
      <p:grpSp>
        <p:nvGrpSpPr>
          <p:cNvPr id="3" name="组合 2"/>
          <p:cNvGrpSpPr/>
          <p:nvPr/>
        </p:nvGrpSpPr>
        <p:grpSpPr>
          <a:xfrm>
            <a:off x="3785937" y="0"/>
            <a:ext cx="8406063" cy="6858000"/>
            <a:chOff x="4711700" y="0"/>
            <a:chExt cx="7480300" cy="6858000"/>
          </a:xfrm>
        </p:grpSpPr>
        <p:sp>
          <p:nvSpPr>
            <p:cNvPr id="25" name="五边形 26"/>
            <p:cNvSpPr/>
            <p:nvPr/>
          </p:nvSpPr>
          <p:spPr>
            <a:xfrm flipH="1">
              <a:off x="4711700" y="0"/>
              <a:ext cx="7289800" cy="6858000"/>
            </a:xfrm>
            <a:prstGeom prst="homePlate">
              <a:avLst>
                <a:gd name="adj" fmla="val 169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五边形 4"/>
            <p:cNvSpPr/>
            <p:nvPr/>
          </p:nvSpPr>
          <p:spPr>
            <a:xfrm flipH="1">
              <a:off x="4902200" y="0"/>
              <a:ext cx="7289800" cy="6858000"/>
            </a:xfrm>
            <a:prstGeom prst="homePlate">
              <a:avLst>
                <a:gd name="adj" fmla="val 1691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7" name="燕尾形 15"/>
          <p:cNvSpPr/>
          <p:nvPr/>
        </p:nvSpPr>
        <p:spPr>
          <a:xfrm flipH="1">
            <a:off x="4264719" y="3073401"/>
            <a:ext cx="385974" cy="711199"/>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28" name="组合 27"/>
          <p:cNvGrpSpPr/>
          <p:nvPr/>
        </p:nvGrpSpPr>
        <p:grpSpPr>
          <a:xfrm flipH="1">
            <a:off x="647007" y="413476"/>
            <a:ext cx="3372055" cy="89175"/>
            <a:chOff x="6741212" y="387738"/>
            <a:chExt cx="5092048" cy="172787"/>
          </a:xfrm>
        </p:grpSpPr>
        <p:sp>
          <p:nvSpPr>
            <p:cNvPr id="34" name="平行四边形 33"/>
            <p:cNvSpPr/>
            <p:nvPr/>
          </p:nvSpPr>
          <p:spPr>
            <a:xfrm flipH="1">
              <a:off x="6741212"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平行四边形 34"/>
            <p:cNvSpPr/>
            <p:nvPr/>
          </p:nvSpPr>
          <p:spPr>
            <a:xfrm flipH="1">
              <a:off x="8128699"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平行四边形 35"/>
            <p:cNvSpPr/>
            <p:nvPr/>
          </p:nvSpPr>
          <p:spPr>
            <a:xfrm flipH="1">
              <a:off x="9516186"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平行四边形 36"/>
            <p:cNvSpPr/>
            <p:nvPr/>
          </p:nvSpPr>
          <p:spPr>
            <a:xfrm flipH="1">
              <a:off x="10903673"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9" name="组合 28"/>
          <p:cNvGrpSpPr/>
          <p:nvPr/>
        </p:nvGrpSpPr>
        <p:grpSpPr>
          <a:xfrm>
            <a:off x="647007" y="6355350"/>
            <a:ext cx="3372055" cy="89175"/>
            <a:chOff x="6741212" y="387738"/>
            <a:chExt cx="5092048" cy="172787"/>
          </a:xfrm>
        </p:grpSpPr>
        <p:sp>
          <p:nvSpPr>
            <p:cNvPr id="30" name="平行四边形 29"/>
            <p:cNvSpPr/>
            <p:nvPr/>
          </p:nvSpPr>
          <p:spPr>
            <a:xfrm flipH="1">
              <a:off x="6741212"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平行四边形 30"/>
            <p:cNvSpPr/>
            <p:nvPr/>
          </p:nvSpPr>
          <p:spPr>
            <a:xfrm flipH="1">
              <a:off x="8128699"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平行四边形 31"/>
            <p:cNvSpPr/>
            <p:nvPr/>
          </p:nvSpPr>
          <p:spPr>
            <a:xfrm flipH="1">
              <a:off x="9516186"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3" name="平行四边形 32"/>
            <p:cNvSpPr/>
            <p:nvPr/>
          </p:nvSpPr>
          <p:spPr>
            <a:xfrm flipH="1">
              <a:off x="10903673" y="387738"/>
              <a:ext cx="929587" cy="17278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4" name="组合 13"/>
          <p:cNvGrpSpPr/>
          <p:nvPr/>
        </p:nvGrpSpPr>
        <p:grpSpPr>
          <a:xfrm>
            <a:off x="4928636" y="1099488"/>
            <a:ext cx="6949440" cy="4544724"/>
            <a:chOff x="5242326" y="956613"/>
            <a:chExt cx="6949440" cy="4544724"/>
          </a:xfrm>
        </p:grpSpPr>
        <p:grpSp>
          <p:nvGrpSpPr>
            <p:cNvPr id="13" name="组合 12"/>
            <p:cNvGrpSpPr/>
            <p:nvPr/>
          </p:nvGrpSpPr>
          <p:grpSpPr>
            <a:xfrm>
              <a:off x="5242326" y="1691367"/>
              <a:ext cx="6949440" cy="2861310"/>
              <a:chOff x="5242326" y="1853292"/>
              <a:chExt cx="6949440" cy="2861310"/>
            </a:xfrm>
          </p:grpSpPr>
          <p:sp>
            <p:nvSpPr>
              <p:cNvPr id="59" name="文本框 58"/>
              <p:cNvSpPr txBox="1"/>
              <p:nvPr/>
            </p:nvSpPr>
            <p:spPr>
              <a:xfrm>
                <a:off x="5242326" y="1853292"/>
                <a:ext cx="6949440" cy="2861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rPr>
                  <a:t>THANK</a:t>
                </a:r>
                <a:endParaRPr kumimoji="0" lang="en-US" altLang="zh-CN" sz="60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accent2"/>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rPr>
                  <a:t>YOU FOR WATCHING</a:t>
                </a:r>
                <a:endParaRPr kumimoji="0" lang="en-US" altLang="zh-CN" sz="6000" b="0" i="0" u="none" strike="noStrike" kern="1200" cap="none" spc="0" normalizeH="0" baseline="0" noProof="0" dirty="0">
                  <a:ln>
                    <a:noFill/>
                  </a:ln>
                  <a:solidFill>
                    <a:schemeClr val="accent2"/>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mn-ea"/>
                  <a:sym typeface="+mn-lt"/>
                </a:endParaRPr>
              </a:p>
            </p:txBody>
          </p:sp>
          <p:sp>
            <p:nvSpPr>
              <p:cNvPr id="60" name="文本框 59"/>
              <p:cNvSpPr txBox="1"/>
              <p:nvPr/>
            </p:nvSpPr>
            <p:spPr>
              <a:xfrm>
                <a:off x="7960761" y="1979022"/>
                <a:ext cx="3496310" cy="156845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BC52D"/>
                    </a:solidFill>
                    <a:effectLst/>
                    <a:uLnTx/>
                    <a:uFillTx/>
                    <a:cs typeface="+mn-ea"/>
                    <a:sym typeface="+mn-lt"/>
                  </a:rPr>
                  <a:t>Order</a:t>
                </a:r>
                <a:endParaRPr kumimoji="0" lang="en-US" altLang="zh-CN" sz="3200" b="0" i="0" u="none" strike="noStrike" kern="1200" cap="none" spc="0" normalizeH="0" baseline="0" noProof="0" dirty="0">
                  <a:ln>
                    <a:noFill/>
                  </a:ln>
                  <a:solidFill>
                    <a:srgbClr val="FBC52D"/>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BC52D"/>
                    </a:solidFill>
                    <a:effectLst/>
                    <a:uLnTx/>
                    <a:uFillTx/>
                    <a:cs typeface="+mn-ea"/>
                    <a:sym typeface="+mn-lt"/>
                  </a:rPr>
                  <a:t>Weaver</a:t>
                </a:r>
                <a:endParaRPr kumimoji="0" lang="en-US" altLang="zh-CN" sz="3200" b="0" i="0" u="none" strike="noStrike" kern="1200" cap="none" spc="0" normalizeH="0" baseline="0" noProof="0" dirty="0">
                  <a:ln>
                    <a:noFill/>
                  </a:ln>
                  <a:solidFill>
                    <a:srgbClr val="FBC52D"/>
                  </a:solidFill>
                  <a:effectLst/>
                  <a:uLnTx/>
                  <a:uFillTx/>
                  <a:cs typeface="+mn-ea"/>
                  <a:sym typeface="+mn-lt"/>
                </a:endParaRPr>
              </a:p>
            </p:txBody>
          </p:sp>
        </p:grpSp>
        <p:sp>
          <p:nvSpPr>
            <p:cNvPr id="66" name="矩形 65"/>
            <p:cNvSpPr/>
            <p:nvPr/>
          </p:nvSpPr>
          <p:spPr>
            <a:xfrm>
              <a:off x="5393644" y="5111805"/>
              <a:ext cx="4226927" cy="389532"/>
            </a:xfrm>
            <a:prstGeom prst="rect">
              <a:avLst/>
            </a:prstGeom>
            <a:no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0" cap="none" spc="0" normalizeH="0" baseline="0" noProof="0" dirty="0">
                  <a:ln>
                    <a:noFill/>
                  </a:ln>
                  <a:solidFill>
                    <a:srgbClr val="FFFFFF"/>
                  </a:solidFill>
                  <a:effectLst/>
                  <a:uLnTx/>
                  <a:uFillTx/>
                  <a:cs typeface="+mn-ea"/>
                  <a:sym typeface="+mn-lt"/>
                </a:rPr>
                <a:t>Team</a:t>
              </a:r>
              <a:r>
                <a:rPr kumimoji="0" lang="zh-CN" altLang="en-US" sz="1600" b="0" i="0" u="none" strike="noStrike" kern="0" cap="none" spc="0" normalizeH="0" baseline="0" noProof="0" dirty="0">
                  <a:ln>
                    <a:noFill/>
                  </a:ln>
                  <a:solidFill>
                    <a:srgbClr val="FFFFFF"/>
                  </a:solidFill>
                  <a:effectLst/>
                  <a:uLnTx/>
                  <a:uFillTx/>
                  <a:cs typeface="+mn-ea"/>
                  <a:sym typeface="+mn-lt"/>
                </a:rPr>
                <a:t>：</a:t>
              </a:r>
              <a:r>
                <a:rPr kumimoji="0" lang="en-US" altLang="zh-CN" sz="1600" b="0" i="0" u="none" strike="noStrike" kern="0" cap="none" spc="0" normalizeH="0" baseline="0" noProof="0" dirty="0">
                  <a:ln>
                    <a:noFill/>
                  </a:ln>
                  <a:solidFill>
                    <a:srgbClr val="FFFFFF"/>
                  </a:solidFill>
                  <a:effectLst/>
                  <a:uLnTx/>
                  <a:uFillTx/>
                  <a:cs typeface="+mn-ea"/>
                  <a:sym typeface="+mn-lt"/>
                </a:rPr>
                <a:t>Team </a:t>
              </a:r>
              <a:r>
                <a:rPr kumimoji="0" lang="en-US" altLang="zh-CN" sz="1600" b="0" i="0" u="none" strike="noStrike" kern="0" cap="none" spc="0" normalizeH="0" baseline="0" noProof="0" dirty="0">
                  <a:ln>
                    <a:noFill/>
                  </a:ln>
                  <a:solidFill>
                    <a:srgbClr val="FFFFFF"/>
                  </a:solidFill>
                  <a:effectLst/>
                  <a:uLnTx/>
                  <a:uFillTx/>
                  <a:cs typeface="+mn-ea"/>
                  <a:sym typeface="+mn-lt"/>
                </a:rPr>
                <a:t>X</a:t>
              </a:r>
              <a:endParaRPr kumimoji="0" lang="en-US" altLang="zh-CN" sz="1600" b="0" i="0" u="none" strike="noStrike" kern="0" cap="none" spc="0" normalizeH="0" baseline="0" noProof="0" dirty="0">
                <a:ln>
                  <a:noFill/>
                </a:ln>
                <a:solidFill>
                  <a:srgbClr val="FFFFFF"/>
                </a:solidFill>
                <a:effectLst/>
                <a:uLnTx/>
                <a:uFillTx/>
                <a:cs typeface="+mn-ea"/>
                <a:sym typeface="+mn-lt"/>
              </a:endParaRPr>
            </a:p>
          </p:txBody>
        </p:sp>
        <p:sp>
          <p:nvSpPr>
            <p:cNvPr id="67" name="文本框 66"/>
            <p:cNvSpPr txBox="1"/>
            <p:nvPr/>
          </p:nvSpPr>
          <p:spPr>
            <a:xfrm>
              <a:off x="5265847" y="956613"/>
              <a:ext cx="1763603" cy="70675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mn-ea"/>
                  <a:sym typeface="+mn-lt"/>
                </a:rPr>
                <a:t>20</a:t>
              </a:r>
              <a:r>
                <a:rPr kumimoji="0" lang="en-US" altLang="zh-CN" sz="4000" b="0" i="0" u="none" strike="noStrike" kern="1200" cap="none" spc="0" normalizeH="0" baseline="0" noProof="0" dirty="0">
                  <a:ln>
                    <a:noFill/>
                  </a:ln>
                  <a:solidFill>
                    <a:srgbClr val="FBC52D"/>
                  </a:solidFill>
                  <a:effectLst/>
                  <a:uLnTx/>
                  <a:uFillTx/>
                  <a:latin typeface="思源宋体 CN Heavy" panose="02020900000000000000" pitchFamily="18" charset="-122"/>
                  <a:ea typeface="思源宋体 CN Heavy" panose="02020900000000000000" pitchFamily="18" charset="-122"/>
                  <a:cs typeface="+mn-ea"/>
                  <a:sym typeface="+mn-lt"/>
                </a:rPr>
                <a:t>26</a:t>
              </a:r>
              <a:endParaRPr kumimoji="0" lang="zh-CN" altLang="en-US" sz="4000" b="0" i="0" u="none" strike="noStrike" kern="1200" cap="none" spc="0" normalizeH="0" baseline="0" noProof="0" dirty="0">
                <a:ln>
                  <a:noFill/>
                </a:ln>
                <a:solidFill>
                  <a:srgbClr val="FBC52D"/>
                </a:solidFill>
                <a:effectLst/>
                <a:uLnTx/>
                <a:uFillTx/>
                <a:latin typeface="思源宋体 CN Heavy" panose="02020900000000000000" pitchFamily="18" charset="-122"/>
                <a:ea typeface="思源宋体 CN Heavy" panose="02020900000000000000" pitchFamily="18" charset="-122"/>
                <a:cs typeface="+mn-ea"/>
                <a:sym typeface="+mn-lt"/>
              </a:endParaRPr>
            </a:p>
          </p:txBody>
        </p:sp>
      </p:grpSp>
    </p:spTree>
    <p:custDataLst>
      <p:tags r:id="rId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ags/tag1.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6263;"/>
</p:tagLst>
</file>

<file path=ppt/tags/tag2.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6263;"/>
</p:tagLst>
</file>

<file path=ppt/tags/tag3.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
</p:tagLst>
</file>

<file path=ppt/tags/tag4.xml><?xml version="1.0" encoding="utf-8"?>
<p:tagLst xmlns:p="http://schemas.openxmlformats.org/presentationml/2006/main">
  <p:tag name="PA" val="v4.0.0"/>
</p:tagLst>
</file>

<file path=ppt/tags/tag5.xml><?xml version="1.0" encoding="utf-8"?>
<p:tagLst xmlns:p="http://schemas.openxmlformats.org/presentationml/2006/main">
  <p:tag name="PA" val="v4.0.0"/>
</p:tagLst>
</file>

<file path=ppt/tags/tag6.xml><?xml version="1.0" encoding="utf-8"?>
<p:tagLst xmlns:p="http://schemas.openxmlformats.org/presentationml/2006/main">
  <p:tag name="PA" val="v4.0.0"/>
</p:tagLst>
</file>

<file path=ppt/tags/tag7.xml><?xml version="1.0" encoding="utf-8"?>
<p:tagLst xmlns:p="http://schemas.openxmlformats.org/presentationml/2006/main">
  <p:tag name="PA" val="v4.0.0"/>
</p:tagLst>
</file>

<file path=ppt/tags/tag8.xml><?xml version="1.0" encoding="utf-8"?>
<p:tagLst xmlns:p="http://schemas.openxmlformats.org/presentationml/2006/main">
  <p:tag name="PA" val="v4.0.0"/>
</p:tagLst>
</file>

<file path=ppt/tags/tag9.xml><?xml version="1.0" encoding="utf-8"?>
<p:tagLst xmlns:p="http://schemas.openxmlformats.org/presentationml/2006/main">
  <p:tag name="PA" val="v4.0.0"/>
</p:tagLst>
</file>

<file path=ppt/tags/tag10.xml><?xml version="1.0" encoding="utf-8"?>
<p:tagLst xmlns:p="http://schemas.openxmlformats.org/presentationml/2006/main">
  <p:tag name="PA" val="v4.0.0"/>
</p:tagLst>
</file>

<file path=ppt/tags/tag11.xml><?xml version="1.0" encoding="utf-8"?>
<p:tagLst xmlns:p="http://schemas.openxmlformats.org/presentationml/2006/main">
  <p:tag name="PA" val="v4.0.0"/>
</p:tagLst>
</file>

<file path=ppt/tags/tag12.xml><?xml version="1.0" encoding="utf-8"?>
<p:tagLst xmlns:p="http://schemas.openxmlformats.org/presentationml/2006/main">
  <p:tag name="PA" val="v4.0.0"/>
</p:tagLst>
</file>

<file path=ppt/tags/tag13.xml><?xml version="1.0" encoding="utf-8"?>
<p:tagLst xmlns:p="http://schemas.openxmlformats.org/presentationml/2006/main">
  <p:tag name="PA" val="v4.0.0"/>
</p:tagLst>
</file>

<file path=ppt/tags/tag14.xml><?xml version="1.0" encoding="utf-8"?>
<p:tagLst xmlns:p="http://schemas.openxmlformats.org/presentationml/2006/main">
  <p:tag name="PA" val="v4.0.0"/>
</p:tagLst>
</file>

<file path=ppt/tags/tag15.xml><?xml version="1.0" encoding="utf-8"?>
<p:tagLst xmlns:p="http://schemas.openxmlformats.org/presentationml/2006/main">
  <p:tag name="ISLIDE.ICON" val="#404587;#405095;#181577;#44406;#120587;#164596;#407167;#379828;#68131;#404696;#87290;#94884;#399914;#11367;#32292;#68131;#171531;#68131;#11367;#11367;#68131;#405088;#82770;#11367;#57184;#405088;#11367;#82770;#44406;#154819;#171531;#404409;#399914;"/>
</p:tagLst>
</file>

<file path=ppt/tags/tag16.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
</p:tagLst>
</file>

<file path=ppt/tags/tag17.xml><?xml version="1.0" encoding="utf-8"?>
<p:tagLst xmlns:p="http://schemas.openxmlformats.org/presentationml/2006/main">
  <p:tag name="ISLIDE.ICON" val="#404587;#405095;#181577;#44406;#120587;#164596;#407167;#379828;#68131;#404696;#87290;#94884;#399914;#11367;#32292;#68131;#171531;#68131;#11367;#11367;#68131;#405088;#82770;#11367;#57184;#405088;#11367;#82770;#44406;#154819;#171531;#404409;#399914;#154840;#76493;#154819;#11367;#407180;#400040;#6597;#393958;#400040;#6597;"/>
</p:tagLst>
</file>

<file path=ppt/tags/tag18.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
</p:tagLst>
</file>

<file path=ppt/tags/tag19.xml><?xml version="1.0" encoding="utf-8"?>
<p:tagLst xmlns:p="http://schemas.openxmlformats.org/presentationml/2006/main">
  <p:tag name="KSO_WM_MEDIACOVER_FLAG" val="1"/>
  <p:tag name="KSO_WM_UNIT_MEDIACOVER_BTN_STATE" val="1"/>
  <p:tag name="KSO_WM_UNIT_MEDIACOVER_BTNRECT" val="0*0*0*0"/>
</p:tagLst>
</file>

<file path=ppt/tags/tag20.xml><?xml version="1.0" encoding="utf-8"?>
<p:tagLst xmlns:p="http://schemas.openxmlformats.org/presentationml/2006/main">
  <p:tag name="ISLIDE.ICON" val="#404587;#405095;#181577;#44406;#120587;#164596;#407167;#379828;#68131;#404696;#87290;#94884;#399914;#11367;#32292;#68131;#171531;#68131;#11367;#11367;#68131;#405088;#82770;#11367;#76493;#11367;#405088;#171531;#110155;#399914;#6263;#154819;"/>
</p:tagLst>
</file>

<file path=ppt/tags/tag21.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ISLIDE.ICON" val="#404587;#405095;#181577;#44406;#120587;#164596;#407167;#379828;#68131;#404696;#87290;#94884;#399914;#11367;#32292;#68131;#171531;#68131;#11367;#11367;#68131;#405088;#82770;#11367;#57184;#405088;#11367;#82770;#44406;#154819;#171531;#404409;#399914;#154840;#76493;#154819;#11367;#407180;#400040;#6597;#393958;#400040;#6597;"/>
</p:tagLst>
</file>

<file path=ppt/tags/tag39.xml><?xml version="1.0" encoding="utf-8"?>
<p:tagLst xmlns:p="http://schemas.openxmlformats.org/presentationml/2006/main">
  <p:tag name="ISLIDE.ICON" val="#404870;#405337;#404870;#393849;#394159;#171092;#134425;#37043;#82770;#141206;#51196;#82028;#137194;#11367;#33357;#82028;#403512;#87290;#27815;#401819;#393460;#381445;#371493;#381445;#172272;#180545;#8286;#79171;#168214;#15360;#50222;#76493;#76493;#373877;#13151;#399914;#380089;#82028;#57408;#74440;#96358;#133132;#76493;#176715;#79311;#142395;#159039;#176715;#179663;#152451;#166590;#381181;#405366;#11131;#133216;#170189;#380240;#170189;#13151;#90587;#104864;#398694;#180545;#135426;#380231;#403512;#379828;#160494;#160494;#368956;#6563;#180545;#398666;#398662;#71715;#401819;#381181;#400238;#6563;#370815;#154840;#151494;#6263;"/>
</p:tagLst>
</file>

<file path=ppt/theme/theme1.xml><?xml version="1.0" encoding="utf-8"?>
<a:theme xmlns:a="http://schemas.openxmlformats.org/drawingml/2006/main" name="第一PPT，www.1ppt.com">
  <a:themeElements>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fontScheme name="cfbd8a61-7264-4995-a4f4-a8fb0a4e9268">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自定义 11">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fontScheme name="cfbd8a61-7264-4995-a4f4-a8fb0a4e9268">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2.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3.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4.xml><?xml version="1.0" encoding="utf-8"?>
<a:themeOverride xmlns:a="http://schemas.openxmlformats.org/drawingml/2006/main">
  <a:clrScheme name="自定义 11">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5.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6.xml><?xml version="1.0" encoding="utf-8"?>
<a:themeOverride xmlns:a="http://schemas.openxmlformats.org/drawingml/2006/main">
  <a:clrScheme name="自定义 11">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7.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8.xml><?xml version="1.0" encoding="utf-8"?>
<a:themeOverride xmlns:a="http://schemas.openxmlformats.org/drawingml/2006/main">
  <a:clrScheme name="自定义 11">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9.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10.xml><?xml version="1.0" encoding="utf-8"?>
<a:themeOverride xmlns:a="http://schemas.openxmlformats.org/drawingml/2006/main">
  <a:clrScheme name="自定义 11">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ppt/theme/themeOverride11.xml><?xml version="1.0" encoding="utf-8"?>
<a:themeOverride xmlns:a="http://schemas.openxmlformats.org/drawingml/2006/main">
  <a:clrScheme name="自定义 13">
    <a:dk1>
      <a:srgbClr val="000000"/>
    </a:dk1>
    <a:lt1>
      <a:srgbClr val="FFFFFF"/>
    </a:lt1>
    <a:dk2>
      <a:srgbClr val="778495"/>
    </a:dk2>
    <a:lt2>
      <a:srgbClr val="F0F0F0"/>
    </a:lt2>
    <a:accent1>
      <a:srgbClr val="2F5597"/>
    </a:accent1>
    <a:accent2>
      <a:srgbClr val="FBC52D"/>
    </a:accent2>
    <a:accent3>
      <a:srgbClr val="FAD78A"/>
    </a:accent3>
    <a:accent4>
      <a:srgbClr val="808080"/>
    </a:accent4>
    <a:accent5>
      <a:srgbClr val="A5A5A5"/>
    </a:accent5>
    <a:accent6>
      <a:srgbClr val="C9C9C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2286</Words>
  <Application>WPS 文字</Application>
  <PresentationFormat>宽屏</PresentationFormat>
  <Paragraphs>118</Paragraphs>
  <Slides>11</Slides>
  <Notes>19</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11</vt:i4>
      </vt:variant>
    </vt:vector>
  </HeadingPairs>
  <TitlesOfParts>
    <vt:vector size="32" baseType="lpstr">
      <vt:lpstr>Arial</vt:lpstr>
      <vt:lpstr>宋体</vt:lpstr>
      <vt:lpstr>Wingdings</vt:lpstr>
      <vt:lpstr>OPPOSans R</vt:lpstr>
      <vt:lpstr>苹方-简</vt:lpstr>
      <vt:lpstr>思源宋体 CN Heavy</vt:lpstr>
      <vt:lpstr>汉仪书宋二KW</vt:lpstr>
      <vt:lpstr>Impact</vt:lpstr>
      <vt:lpstr>Century Gothic</vt:lpstr>
      <vt:lpstr>微软雅黑</vt:lpstr>
      <vt:lpstr>汉仪旗黑</vt:lpstr>
      <vt:lpstr>宋体</vt:lpstr>
      <vt:lpstr>Arial Unicode MS</vt:lpstr>
      <vt:lpstr>Arial</vt:lpstr>
      <vt:lpstr>微软雅黑</vt:lpstr>
      <vt:lpstr>微软雅黑</vt:lpstr>
      <vt:lpstr>Calibri</vt:lpstr>
      <vt:lpstr>Helvetica Neue</vt:lpstr>
      <vt:lpstr>第一PPT，www.1ppt.com</vt:lpstr>
      <vt:lpstr>第一PPT，www.1ppt.com </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市场调研</dc:title>
  <dc:creator>第一PPT，www.1ppt.com</dc:creator>
  <cp:keywords>www.1ppt.com</cp:keywords>
  <dc:description>第一PPT</dc:description>
  <cp:lastModifiedBy>Qii.Vv</cp:lastModifiedBy>
  <cp:revision>8191</cp:revision>
  <dcterms:created xsi:type="dcterms:W3CDTF">2026-10-24T00:03:38Z</dcterms:created>
  <dcterms:modified xsi:type="dcterms:W3CDTF">2026-10-24T00:03:38Z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42413D354EE8D8B8745ADA6AC8022BC0_43</vt:lpwstr>
  </property>
  <property fmtid="{D5CDD505-2E9C-101B-9397-08002B2CF9AE}" pid="3" name="KSOProductBuildVer">
    <vt:lpwstr>2052-6.5.2.8766</vt:lpwstr>
  </property>
</Properties>
</file>